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heme" Target="theme/theme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906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>
          <a:xfrm>
            <a:off x="857250" y="1143000"/>
            <a:ext cx="51435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846320"/>
            <a:ext cx="5486400" cy="3291840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906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  <a:lvl2pPr marL="457200" algn="l">
      <a:defRPr sz="1200">
        <a:solidFill>
          <a:schemeClr val="tx1"/>
        </a:solidFill>
        <a:latin typeface="+mn-lt"/>
      </a:defRPr>
    </a:lvl2pPr>
    <a:lvl3pPr marL="914400" algn="l">
      <a:defRPr sz="1200">
        <a:solidFill>
          <a:schemeClr val="tx1"/>
        </a:solidFill>
        <a:latin typeface="+mn-lt"/>
      </a:defRPr>
    </a:lvl3pPr>
    <a:lvl4pPr marL="1371600" algn="l">
      <a:defRPr sz="1200">
        <a:solidFill>
          <a:schemeClr val="tx1"/>
        </a:solidFill>
        <a:latin typeface="+mn-lt"/>
      </a:defRPr>
    </a:lvl4pPr>
    <a:lvl5pPr marL="1828800" algn="l">
      <a:defRPr sz="1200">
        <a:solidFill>
          <a:schemeClr val="tx1"/>
        </a:solidFill>
        <a:latin typeface="+mn-lt"/>
      </a:defRPr>
    </a:lvl5pPr>
    <a:lvl6pPr marL="2286000" algn="l">
      <a:defRPr sz="1200">
        <a:solidFill>
          <a:schemeClr val="tx1"/>
        </a:solidFill>
        <a:latin typeface="+mn-lt"/>
      </a:defRPr>
    </a:lvl6pPr>
    <a:lvl7pPr marL="2743200" algn="l">
      <a:defRPr sz="1200">
        <a:solidFill>
          <a:schemeClr val="tx1"/>
        </a:solidFill>
        <a:latin typeface="+mn-lt"/>
      </a:defRPr>
    </a:lvl7pPr>
    <a:lvl8pPr marL="3200400" algn="l">
      <a:defRPr sz="1200">
        <a:solidFill>
          <a:schemeClr val="tx1"/>
        </a:solidFill>
        <a:latin typeface="+mn-lt"/>
      </a:defRPr>
    </a:lvl8pPr>
    <a:lvl9pPr marL="3657600" algn="l">
      <a:defRPr sz="1200">
        <a:solidFill>
          <a:schemeClr val="tx1"/>
        </a:solidFill>
        <a:latin typeface="+mn-lt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[~10 сек] Сайт может выглядеть целым, а заявка — не проходить. webscope проверяет клики, формы и заявки раньше, чем клиент. Дальше — три минуты по делу.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[~25 сек] Три типовых сбоя: клик, форма, релиз. Владелец узнаёт о них последним, потому что сайт формально открывается. При этом сайт меняется каждую неделю, а проверяют его раз в год.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[~30 сек] Смысл не в отчёте, а в раннем предупреждении. Владелец платит за то, чтобы узнать о поломке до клиента, получить только изменения и готовое действие. Это ответ на вопрос «зачем этим пользоваться».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[~25 сек] В отчёте одна находка: что сломано, селектор, фрагмент кода и что делать. Не двести проблем, а одно действие. Слева — как это получается, справа — как выглядит результат.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[~30 сек] Фокус — малый бизнес и ИП: у них сайт приносит заявки, но нет техкоманды. Solo стоит двенадцать долларов в месяц. Десять клиентов покрывают инфраструктуру, восемьдесят — сценарий, не прогноз.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[~20 сек] Против Lighthouse, ручного аудита и uptime: мы проверяем клики и формы, делаем это регулярно и показываем дифф. Не соревнуемся в отчётах — соревнуемся в непрерывности.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[~25 сек] Статус: шесть проверок, CLI, MCP, веб, история и диффы, шестьдесят шесть тестов. Границы: личные кабинеты за логином не проверяем, сложный JS покрыт не полностью, ложные срабатывания — главный риск, у веб-интерфейса пока нет авторизации. Безопасность: SSRF-защита, robots.txt, не собираем логины и пароли. Перед публичным SaaS нужны auth, лимиты и изоляция браузера.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[~15 сек] До декабря три технических фокуса: точность, отчёты, стабильность. Нужны десять-двадцать тестовых сайтов, ручная разметка, восемьсот долларов и ревью. Закрываю фразой: сайт ломается тихо — давайте слышать это первыми.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 fontScale="100000"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Emb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Box 1"/>
          <p:cNvSpPr txBox="1"/>
          <p:nvPr/>
        </p:nvSpPr>
        <p:spPr>
          <a:xfrm>
            <a:off x="812800" y="406400"/>
            <a:ext cx="8890000" cy="1295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cap="all" spc="100">
                <a:solidFill>
                  <a:srgbClr val="A7ADB7"/>
                </a:solidFill>
                <a:latin typeface="Noto Sans Mono"/>
              </a:rPr>
              <a:t>SPACE UNIVERSITY  /  ПИТЧ  /  28.10.2026</a:t>
            </a:r>
            <a:endParaRPr sz="850" b="1" cap="all" spc="100">
              <a:solidFill>
                <a:srgbClr val="A7ADB7"/>
              </a:solidFill>
              <a:latin typeface="Noto Sans Mono"/>
            </a:endParaRPr>
          </a:p>
        </p:txBody>
      </p:sp>
      <p:sp>
        <p:nvSpPr>
          <p:cNvPr id="262" name="Rectangle 2"/>
          <p:cNvSpPr/>
          <p:nvPr/>
        </p:nvSpPr>
        <p:spPr>
          <a:xfrm>
            <a:off x="812800" y="660400"/>
            <a:ext cx="10566400" cy="9525"/>
          </a:xfrm>
          <a:prstGeom prst="rect">
            <a:avLst/>
          </a:prstGeom>
          <a:solidFill>
            <a:srgbClr val="343A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63" name="TextBox 3"/>
          <p:cNvSpPr txBox="1"/>
          <p:nvPr/>
        </p:nvSpPr>
        <p:spPr>
          <a:xfrm>
            <a:off x="812800" y="1422400"/>
            <a:ext cx="10566400" cy="16788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400" b="1">
                <a:solidFill>
                  <a:srgbClr val="FFFFFF"/>
                </a:solidFill>
                <a:latin typeface="Noto Serif"/>
              </a:rPr>
              <a:t>Сайт теряет</a:t>
            </a:r>
            <a:endParaRPr sz="5400" b="1">
              <a:solidFill>
                <a:srgbClr val="FFFFFF"/>
              </a:solidFill>
              <a:latin typeface="Noto Serif"/>
            </a:endParaRPr>
          </a:p>
          <a:p>
            <a:pPr algn="l">
              <a:lnSpc>
                <a:spcPct val="102000"/>
              </a:lnSpc>
            </a:pPr>
            <a:r>
              <a:rPr sz="5400" b="1">
                <a:solidFill>
                  <a:srgbClr val="FFFFFF"/>
                </a:solidFill>
                <a:latin typeface="Noto Serif"/>
              </a:rPr>
              <a:t>клиентов молча.</a:t>
            </a:r>
            <a:endParaRPr sz="5400" b="1">
              <a:solidFill>
                <a:srgbClr val="FFFFFF"/>
              </a:solidFill>
              <a:latin typeface="Noto Serif"/>
            </a:endParaRPr>
          </a:p>
        </p:txBody>
      </p:sp>
      <p:sp>
        <p:nvSpPr>
          <p:cNvPr id="264" name="TextBox 4"/>
          <p:cNvSpPr txBox="1"/>
          <p:nvPr/>
        </p:nvSpPr>
        <p:spPr>
          <a:xfrm>
            <a:off x="812800" y="3327400"/>
            <a:ext cx="7874000" cy="7071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D6D9DE"/>
                </a:solidFill>
                <a:latin typeface="Noto Sans"/>
              </a:rPr>
              <a:t>webscope проверяет клики, формы и заявки</a:t>
            </a:r>
            <a:endParaRPr sz="1600" b="0">
              <a:solidFill>
                <a:srgbClr val="D6D9DE"/>
              </a:solidFill>
              <a:latin typeface="Noto Sans"/>
            </a:endParaRP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D6D9DE"/>
                </a:solidFill>
                <a:latin typeface="Noto Sans"/>
              </a:rPr>
              <a:t>раньше, чем клиент.</a:t>
            </a:r>
            <a:endParaRPr sz="1600" b="0">
              <a:solidFill>
                <a:srgbClr val="D6D9DE"/>
              </a:solidFill>
              <a:latin typeface="Noto Sans"/>
            </a:endParaRPr>
          </a:p>
        </p:txBody>
      </p:sp>
      <p:sp>
        <p:nvSpPr>
          <p:cNvPr id="265" name="Rectangle 5"/>
          <p:cNvSpPr/>
          <p:nvPr/>
        </p:nvSpPr>
        <p:spPr>
          <a:xfrm>
            <a:off x="812800" y="4470400"/>
            <a:ext cx="584200" cy="50800"/>
          </a:xfrm>
          <a:prstGeom prst="rect">
            <a:avLst/>
          </a:prstGeom>
          <a:solidFill>
            <a:srgbClr val="FF5A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66" name="TextBox 6"/>
          <p:cNvSpPr txBox="1"/>
          <p:nvPr/>
        </p:nvSpPr>
        <p:spPr>
          <a:xfrm>
            <a:off x="812800" y="4749800"/>
            <a:ext cx="7620000" cy="14478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7ADB7"/>
                </a:solidFill>
                <a:latin typeface="Noto Sans Mono"/>
              </a:rPr>
              <a:t>Малый бизнес и ИП  ·  Беларусь  ·  2026</a:t>
            </a:r>
            <a:endParaRPr sz="950" b="0">
              <a:solidFill>
                <a:srgbClr val="A7ADB7"/>
              </a:solidFill>
              <a:latin typeface="Noto Sans Mono"/>
            </a:endParaRPr>
          </a:p>
        </p:txBody>
      </p:sp>
      <p:sp>
        <p:nvSpPr>
          <p:cNvPr id="267" name="TextBox 7"/>
          <p:cNvSpPr txBox="1"/>
          <p:nvPr/>
        </p:nvSpPr>
        <p:spPr>
          <a:xfrm>
            <a:off x="8585200" y="4749800"/>
            <a:ext cx="2794000" cy="1371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A7ADB7"/>
                </a:solidFill>
                <a:latin typeface="Noto Sans Mono"/>
              </a:rPr>
              <a:t>демо — по запросу</a:t>
            </a:r>
            <a:endParaRPr sz="900" b="0">
              <a:solidFill>
                <a:srgbClr val="A7ADB7"/>
              </a:solidFill>
              <a:latin typeface="Noto Sans Mono"/>
            </a:endParaRPr>
          </a:p>
        </p:txBody>
      </p:sp>
      <p:sp>
        <p:nvSpPr>
          <p:cNvPr id="268" name="TextBox 8"/>
          <p:cNvSpPr txBox="1"/>
          <p:nvPr/>
        </p:nvSpPr>
        <p:spPr>
          <a:xfrm>
            <a:off x="812800" y="6451600"/>
            <a:ext cx="4064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A7ADB7"/>
                </a:solidFill>
                <a:latin typeface="Noto Sans Mono"/>
              </a:rPr>
              <a:t>webscope</a:t>
            </a:r>
            <a:endParaRPr sz="800" b="0">
              <a:solidFill>
                <a:srgbClr val="A7ADB7"/>
              </a:solidFill>
              <a:latin typeface="Noto Sans Mono"/>
            </a:endParaRPr>
          </a:p>
        </p:txBody>
      </p:sp>
      <p:sp>
        <p:nvSpPr>
          <p:cNvPr id="269" name="TextBox 9"/>
          <p:cNvSpPr txBox="1"/>
          <p:nvPr/>
        </p:nvSpPr>
        <p:spPr>
          <a:xfrm>
            <a:off x="10236200" y="6451600"/>
            <a:ext cx="1143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A7ADB7"/>
                </a:solidFill>
                <a:latin typeface="Noto Sans Mono"/>
              </a:rPr>
              <a:t>01 / 8</a:t>
            </a:r>
            <a:endParaRPr sz="800" b="0">
              <a:solidFill>
                <a:srgbClr val="A7ADB7"/>
              </a:solidFill>
              <a:latin typeface="Noto Sans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extBox 1"/>
          <p:cNvSpPr txBox="1"/>
          <p:nvPr/>
        </p:nvSpPr>
        <p:spPr>
          <a:xfrm>
            <a:off x="812800" y="406400"/>
            <a:ext cx="8890000" cy="1295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cap="all" spc="100">
                <a:solidFill>
                  <a:srgbClr val="5A626D"/>
                </a:solidFill>
                <a:latin typeface="Noto Sans Mono"/>
              </a:rPr>
              <a:t>01  /  ПРОБЛЕМА</a:t>
            </a:r>
            <a:endParaRPr sz="850" b="1" cap="all" spc="10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272" name="Rectangle 2"/>
          <p:cNvSpPr/>
          <p:nvPr/>
        </p:nvSpPr>
        <p:spPr>
          <a:xfrm>
            <a:off x="812800" y="660400"/>
            <a:ext cx="10566400" cy="9525"/>
          </a:xfrm>
          <a:prstGeom prst="rect">
            <a:avLst/>
          </a:prstGeom>
          <a:solidFill>
            <a:srgbClr val="C9C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73" name="TextBox 3"/>
          <p:cNvSpPr txBox="1"/>
          <p:nvPr/>
        </p:nvSpPr>
        <p:spPr>
          <a:xfrm>
            <a:off x="812800" y="863600"/>
            <a:ext cx="10566400" cy="124358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101215"/>
                </a:solidFill>
                <a:latin typeface="Noto Serif"/>
              </a:rPr>
              <a:t>Сайт открывается.</a:t>
            </a:r>
            <a:endParaRPr sz="4000" b="1">
              <a:solidFill>
                <a:srgbClr val="101215"/>
              </a:solidFill>
              <a:latin typeface="Noto Serif"/>
            </a:endParaRPr>
          </a:p>
          <a:p>
            <a:pPr algn="l">
              <a:lnSpc>
                <a:spcPct val="102000"/>
              </a:lnSpc>
            </a:pPr>
            <a:r>
              <a:rPr sz="4000" b="1">
                <a:solidFill>
                  <a:srgbClr val="101215"/>
                </a:solidFill>
                <a:latin typeface="Noto Serif"/>
              </a:rPr>
              <a:t>Заявка — нет.</a:t>
            </a:r>
            <a:endParaRPr sz="4000" b="1">
              <a:solidFill>
                <a:srgbClr val="101215"/>
              </a:solidFill>
              <a:latin typeface="Noto Serif"/>
            </a:endParaRPr>
          </a:p>
        </p:txBody>
      </p:sp>
      <p:sp>
        <p:nvSpPr>
          <p:cNvPr id="274" name="TextBox 4"/>
          <p:cNvSpPr txBox="1"/>
          <p:nvPr/>
        </p:nvSpPr>
        <p:spPr>
          <a:xfrm>
            <a:off x="812800" y="2286000"/>
            <a:ext cx="10566400" cy="2103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C434D"/>
                </a:solidFill>
                <a:latin typeface="Noto Sans"/>
              </a:rPr>
              <a:t>Владелец узнаёт о поломке последним: из жалобы клиента или из просевшей выручки.</a:t>
            </a:r>
            <a:endParaRPr sz="115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275" name="Rectangle 5"/>
          <p:cNvSpPr/>
          <p:nvPr/>
        </p:nvSpPr>
        <p:spPr>
          <a:xfrm>
            <a:off x="812800" y="2921000"/>
            <a:ext cx="3175000" cy="12700"/>
          </a:xfrm>
          <a:prstGeom prst="rect">
            <a:avLst/>
          </a:prstGeom>
          <a:solidFill>
            <a:srgbClr val="1012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76" name="TextBox 6"/>
          <p:cNvSpPr txBox="1"/>
          <p:nvPr/>
        </p:nvSpPr>
        <p:spPr>
          <a:xfrm>
            <a:off x="812800" y="3073400"/>
            <a:ext cx="508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C9280B"/>
                </a:solidFill>
                <a:latin typeface="Noto Sans Mono"/>
              </a:rPr>
              <a:t>01</a:t>
            </a:r>
            <a:endParaRPr sz="800" b="1">
              <a:solidFill>
                <a:srgbClr val="C9280B"/>
              </a:solidFill>
              <a:latin typeface="Noto Sans Mono"/>
            </a:endParaRPr>
          </a:p>
        </p:txBody>
      </p:sp>
      <p:sp>
        <p:nvSpPr>
          <p:cNvPr id="277" name="TextBox 7"/>
          <p:cNvSpPr txBox="1"/>
          <p:nvPr/>
        </p:nvSpPr>
        <p:spPr>
          <a:xfrm>
            <a:off x="812800" y="3327400"/>
            <a:ext cx="3175000" cy="2453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1215"/>
                </a:solidFill>
                <a:latin typeface="Noto Sans"/>
              </a:rPr>
              <a:t>Кнопку нельзя нажать</a:t>
            </a:r>
            <a:endParaRPr sz="1400" b="1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278" name="TextBox 8"/>
          <p:cNvSpPr txBox="1"/>
          <p:nvPr/>
        </p:nvSpPr>
        <p:spPr>
          <a:xfrm>
            <a:off x="812800" y="3962400"/>
            <a:ext cx="2997200" cy="4267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C434D"/>
                </a:solidFill>
                <a:latin typeface="Noto Sans"/>
              </a:rPr>
              <a:t>Баннер, модалка или фиксированный блок перекрывает CTA.</a:t>
            </a:r>
            <a:endParaRPr sz="10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279" name="Rectangle 9"/>
          <p:cNvSpPr/>
          <p:nvPr/>
        </p:nvSpPr>
        <p:spPr>
          <a:xfrm>
            <a:off x="4445000" y="2921000"/>
            <a:ext cx="3175000" cy="12700"/>
          </a:xfrm>
          <a:prstGeom prst="rect">
            <a:avLst/>
          </a:prstGeom>
          <a:solidFill>
            <a:srgbClr val="1012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80" name="TextBox 10"/>
          <p:cNvSpPr txBox="1"/>
          <p:nvPr/>
        </p:nvSpPr>
        <p:spPr>
          <a:xfrm>
            <a:off x="4445000" y="3073400"/>
            <a:ext cx="508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C9280B"/>
                </a:solidFill>
                <a:latin typeface="Noto Sans Mono"/>
              </a:rPr>
              <a:t>02</a:t>
            </a:r>
            <a:endParaRPr sz="800" b="1">
              <a:solidFill>
                <a:srgbClr val="C9280B"/>
              </a:solidFill>
              <a:latin typeface="Noto Sans Mono"/>
            </a:endParaRPr>
          </a:p>
        </p:txBody>
      </p:sp>
      <p:sp>
        <p:nvSpPr>
          <p:cNvPr id="281" name="TextBox 11"/>
          <p:cNvSpPr txBox="1"/>
          <p:nvPr/>
        </p:nvSpPr>
        <p:spPr>
          <a:xfrm>
            <a:off x="4445000" y="3327400"/>
            <a:ext cx="3175000" cy="2453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1215"/>
                </a:solidFill>
                <a:latin typeface="Noto Sans"/>
              </a:rPr>
              <a:t>Форма не доходит</a:t>
            </a:r>
            <a:endParaRPr sz="1400" b="1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282" name="TextBox 12"/>
          <p:cNvSpPr txBox="1"/>
          <p:nvPr/>
        </p:nvSpPr>
        <p:spPr>
          <a:xfrm>
            <a:off x="4445000" y="3962400"/>
            <a:ext cx="2997200" cy="4267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C434D"/>
                </a:solidFill>
                <a:latin typeface="Noto Sans"/>
              </a:rPr>
              <a:t>Ошибка JS или отправка в пустоту — заявки нет.</a:t>
            </a:r>
            <a:endParaRPr sz="10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283" name="Rectangle 13"/>
          <p:cNvSpPr/>
          <p:nvPr/>
        </p:nvSpPr>
        <p:spPr>
          <a:xfrm>
            <a:off x="8077200" y="2921000"/>
            <a:ext cx="3175000" cy="12700"/>
          </a:xfrm>
          <a:prstGeom prst="rect">
            <a:avLst/>
          </a:prstGeom>
          <a:solidFill>
            <a:srgbClr val="1012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84" name="TextBox 14"/>
          <p:cNvSpPr txBox="1"/>
          <p:nvPr/>
        </p:nvSpPr>
        <p:spPr>
          <a:xfrm>
            <a:off x="8077200" y="3073400"/>
            <a:ext cx="508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C9280B"/>
                </a:solidFill>
                <a:latin typeface="Noto Sans Mono"/>
              </a:rPr>
              <a:t>03</a:t>
            </a:r>
            <a:endParaRPr sz="800" b="1">
              <a:solidFill>
                <a:srgbClr val="C9280B"/>
              </a:solidFill>
              <a:latin typeface="Noto Sans Mono"/>
            </a:endParaRPr>
          </a:p>
        </p:txBody>
      </p:sp>
      <p:sp>
        <p:nvSpPr>
          <p:cNvPr id="285" name="TextBox 15"/>
          <p:cNvSpPr txBox="1"/>
          <p:nvPr/>
        </p:nvSpPr>
        <p:spPr>
          <a:xfrm>
            <a:off x="8077200" y="3327400"/>
            <a:ext cx="3175000" cy="2453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1215"/>
                </a:solidFill>
                <a:latin typeface="Noto Sans"/>
              </a:rPr>
              <a:t>Сломалось после релиза</a:t>
            </a:r>
            <a:endParaRPr sz="1400" b="1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286" name="TextBox 16"/>
          <p:cNvSpPr txBox="1"/>
          <p:nvPr/>
        </p:nvSpPr>
        <p:spPr>
          <a:xfrm>
            <a:off x="8077200" y="3962400"/>
            <a:ext cx="2997200" cy="2133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C434D"/>
                </a:solidFill>
                <a:latin typeface="Noto Sans"/>
              </a:rPr>
              <a:t>Обновили сайт — отвалился скрипт или стили.</a:t>
            </a:r>
            <a:endParaRPr sz="10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287" name="TextBox 17"/>
          <p:cNvSpPr txBox="1"/>
          <p:nvPr/>
        </p:nvSpPr>
        <p:spPr>
          <a:xfrm>
            <a:off x="812800" y="5105400"/>
            <a:ext cx="10566400" cy="2453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9280B"/>
                </a:solidFill>
                <a:latin typeface="Noto Sans"/>
              </a:rPr>
              <a:t>Сайт меняется каждую неделю. Проверяют — раз в год.</a:t>
            </a:r>
            <a:endParaRPr sz="1400" b="1">
              <a:solidFill>
                <a:srgbClr val="C9280B"/>
              </a:solidFill>
              <a:latin typeface="Noto Sans"/>
            </a:endParaRPr>
          </a:p>
        </p:txBody>
      </p:sp>
      <p:sp>
        <p:nvSpPr>
          <p:cNvPr id="288" name="TextBox 18"/>
          <p:cNvSpPr txBox="1"/>
          <p:nvPr/>
        </p:nvSpPr>
        <p:spPr>
          <a:xfrm>
            <a:off x="812800" y="5435600"/>
            <a:ext cx="10566400" cy="18288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C434D"/>
                </a:solidFill>
                <a:latin typeface="Noto Sans"/>
              </a:rPr>
              <a:t>Ни один из этих сбоев не виден по «сайт открывается».</a:t>
            </a:r>
            <a:endParaRPr sz="10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289" name="TextBox 19"/>
          <p:cNvSpPr txBox="1"/>
          <p:nvPr/>
        </p:nvSpPr>
        <p:spPr>
          <a:xfrm>
            <a:off x="812800" y="6451600"/>
            <a:ext cx="4064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626D"/>
                </a:solidFill>
                <a:latin typeface="Noto Sans Mono"/>
              </a:rPr>
              <a:t>webscope</a:t>
            </a:r>
            <a:endParaRPr sz="800" b="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290" name="TextBox 20"/>
          <p:cNvSpPr txBox="1"/>
          <p:nvPr/>
        </p:nvSpPr>
        <p:spPr>
          <a:xfrm>
            <a:off x="10236200" y="6451600"/>
            <a:ext cx="1143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5A626D"/>
                </a:solidFill>
                <a:latin typeface="Noto Sans Mono"/>
              </a:rPr>
              <a:t>02 / 8</a:t>
            </a:r>
            <a:endParaRPr sz="800" b="0">
              <a:solidFill>
                <a:srgbClr val="5A626D"/>
              </a:solidFill>
              <a:latin typeface="Noto Sans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Box 1"/>
          <p:cNvSpPr txBox="1"/>
          <p:nvPr/>
        </p:nvSpPr>
        <p:spPr>
          <a:xfrm>
            <a:off x="812800" y="406400"/>
            <a:ext cx="8890000" cy="1295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cap="all" spc="100">
                <a:solidFill>
                  <a:srgbClr val="5A626D"/>
                </a:solidFill>
                <a:latin typeface="Noto Sans Mono"/>
              </a:rPr>
              <a:t>02  /  ЗАЧЕМ</a:t>
            </a:r>
            <a:endParaRPr sz="850" b="1" cap="all" spc="10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293" name="Rectangle 2"/>
          <p:cNvSpPr/>
          <p:nvPr/>
        </p:nvSpPr>
        <p:spPr>
          <a:xfrm>
            <a:off x="812800" y="660400"/>
            <a:ext cx="10566400" cy="9525"/>
          </a:xfrm>
          <a:prstGeom prst="rect">
            <a:avLst/>
          </a:prstGeom>
          <a:solidFill>
            <a:srgbClr val="C9C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94" name="TextBox 3"/>
          <p:cNvSpPr txBox="1"/>
          <p:nvPr/>
        </p:nvSpPr>
        <p:spPr>
          <a:xfrm>
            <a:off x="812800" y="863600"/>
            <a:ext cx="10566400" cy="5596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101215"/>
                </a:solidFill>
                <a:latin typeface="Noto Serif"/>
              </a:rPr>
              <a:t>Зачем это владельцу.</a:t>
            </a:r>
            <a:endParaRPr sz="3600" b="1">
              <a:solidFill>
                <a:srgbClr val="101215"/>
              </a:solidFill>
              <a:latin typeface="Noto Serif"/>
            </a:endParaRPr>
          </a:p>
        </p:txBody>
      </p:sp>
      <p:sp>
        <p:nvSpPr>
          <p:cNvPr id="295" name="TextBox 4"/>
          <p:cNvSpPr txBox="1"/>
          <p:nvPr/>
        </p:nvSpPr>
        <p:spPr>
          <a:xfrm>
            <a:off x="812800" y="1625600"/>
            <a:ext cx="10566400" cy="2103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C434D"/>
                </a:solidFill>
                <a:latin typeface="Noto Sans"/>
              </a:rPr>
              <a:t>Не ещё один аудит — раннее предупреждение о том, что мешает заявке.</a:t>
            </a:r>
            <a:endParaRPr sz="115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296" name="Rectangle 5"/>
          <p:cNvSpPr/>
          <p:nvPr/>
        </p:nvSpPr>
        <p:spPr>
          <a:xfrm>
            <a:off x="812800" y="2413000"/>
            <a:ext cx="2489200" cy="12700"/>
          </a:xfrm>
          <a:prstGeom prst="rect">
            <a:avLst/>
          </a:prstGeom>
          <a:solidFill>
            <a:srgbClr val="1012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97" name="TextBox 6"/>
          <p:cNvSpPr txBox="1"/>
          <p:nvPr/>
        </p:nvSpPr>
        <p:spPr>
          <a:xfrm>
            <a:off x="812800" y="2565400"/>
            <a:ext cx="4572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C9280B"/>
                </a:solidFill>
                <a:latin typeface="Noto Sans Mono"/>
              </a:rPr>
              <a:t>01</a:t>
            </a:r>
            <a:endParaRPr sz="800" b="1">
              <a:solidFill>
                <a:srgbClr val="C9280B"/>
              </a:solidFill>
              <a:latin typeface="Noto Sans Mono"/>
            </a:endParaRPr>
          </a:p>
        </p:txBody>
      </p:sp>
      <p:sp>
        <p:nvSpPr>
          <p:cNvPr id="298" name="TextBox 7"/>
          <p:cNvSpPr txBox="1"/>
          <p:nvPr/>
        </p:nvSpPr>
        <p:spPr>
          <a:xfrm>
            <a:off x="812800" y="2768600"/>
            <a:ext cx="2413000" cy="2453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1215"/>
                </a:solidFill>
                <a:latin typeface="Noto Sans"/>
              </a:rPr>
              <a:t>До жалобы</a:t>
            </a:r>
            <a:endParaRPr sz="1400" b="1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299" name="TextBox 8"/>
          <p:cNvSpPr txBox="1"/>
          <p:nvPr/>
        </p:nvSpPr>
        <p:spPr>
          <a:xfrm>
            <a:off x="812800" y="3225800"/>
            <a:ext cx="2286000" cy="4419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3C434D"/>
                </a:solidFill>
                <a:latin typeface="Noto Sans"/>
              </a:rPr>
              <a:t>Проверка по расписанию + Telegram или email.</a:t>
            </a:r>
            <a:endParaRPr sz="10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300" name="Rectangle 9"/>
          <p:cNvSpPr/>
          <p:nvPr/>
        </p:nvSpPr>
        <p:spPr>
          <a:xfrm>
            <a:off x="3505200" y="2413000"/>
            <a:ext cx="2489200" cy="12700"/>
          </a:xfrm>
          <a:prstGeom prst="rect">
            <a:avLst/>
          </a:prstGeom>
          <a:solidFill>
            <a:srgbClr val="1012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01" name="TextBox 10"/>
          <p:cNvSpPr txBox="1"/>
          <p:nvPr/>
        </p:nvSpPr>
        <p:spPr>
          <a:xfrm>
            <a:off x="3505200" y="2565400"/>
            <a:ext cx="4572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C9280B"/>
                </a:solidFill>
                <a:latin typeface="Noto Sans Mono"/>
              </a:rPr>
              <a:t>02</a:t>
            </a:r>
            <a:endParaRPr sz="800" b="1">
              <a:solidFill>
                <a:srgbClr val="C9280B"/>
              </a:solidFill>
              <a:latin typeface="Noto Sans Mono"/>
            </a:endParaRPr>
          </a:p>
        </p:txBody>
      </p:sp>
      <p:sp>
        <p:nvSpPr>
          <p:cNvPr id="302" name="TextBox 11"/>
          <p:cNvSpPr txBox="1"/>
          <p:nvPr/>
        </p:nvSpPr>
        <p:spPr>
          <a:xfrm>
            <a:off x="3505200" y="2768600"/>
            <a:ext cx="2413000" cy="2453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1215"/>
                </a:solidFill>
                <a:latin typeface="Noto Sans"/>
              </a:rPr>
              <a:t>Только изменения</a:t>
            </a:r>
            <a:endParaRPr sz="1400" b="1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303" name="TextBox 12"/>
          <p:cNvSpPr txBox="1"/>
          <p:nvPr/>
        </p:nvSpPr>
        <p:spPr>
          <a:xfrm>
            <a:off x="3505200" y="3225800"/>
            <a:ext cx="2286000" cy="4419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3C434D"/>
                </a:solidFill>
                <a:latin typeface="Noto Sans"/>
              </a:rPr>
              <a:t>Дифф с прошлым прогоном: что сломалось, что починили.</a:t>
            </a:r>
            <a:endParaRPr sz="10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304" name="Rectangle 13"/>
          <p:cNvSpPr/>
          <p:nvPr/>
        </p:nvSpPr>
        <p:spPr>
          <a:xfrm>
            <a:off x="6197600" y="2413000"/>
            <a:ext cx="2489200" cy="12700"/>
          </a:xfrm>
          <a:prstGeom prst="rect">
            <a:avLst/>
          </a:prstGeom>
          <a:solidFill>
            <a:srgbClr val="1012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05" name="TextBox 14"/>
          <p:cNvSpPr txBox="1"/>
          <p:nvPr/>
        </p:nvSpPr>
        <p:spPr>
          <a:xfrm>
            <a:off x="6197600" y="2565400"/>
            <a:ext cx="4572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C9280B"/>
                </a:solidFill>
                <a:latin typeface="Noto Sans Mono"/>
              </a:rPr>
              <a:t>03</a:t>
            </a:r>
            <a:endParaRPr sz="800" b="1">
              <a:solidFill>
                <a:srgbClr val="C9280B"/>
              </a:solidFill>
              <a:latin typeface="Noto Sans Mono"/>
            </a:endParaRPr>
          </a:p>
        </p:txBody>
      </p:sp>
      <p:sp>
        <p:nvSpPr>
          <p:cNvPr id="306" name="TextBox 15"/>
          <p:cNvSpPr txBox="1"/>
          <p:nvPr/>
        </p:nvSpPr>
        <p:spPr>
          <a:xfrm>
            <a:off x="6197600" y="2768600"/>
            <a:ext cx="2413000" cy="2453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1215"/>
                </a:solidFill>
                <a:latin typeface="Noto Sans"/>
              </a:rPr>
              <a:t>Что чинить</a:t>
            </a:r>
            <a:endParaRPr sz="1400" b="1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307" name="TextBox 16"/>
          <p:cNvSpPr txBox="1"/>
          <p:nvPr/>
        </p:nvSpPr>
        <p:spPr>
          <a:xfrm>
            <a:off x="6197600" y="3225800"/>
            <a:ext cx="2286000" cy="4419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3C434D"/>
                </a:solidFill>
                <a:latin typeface="Noto Sans"/>
              </a:rPr>
              <a:t>Селектор, фрагмент кода и конкретное действие.</a:t>
            </a:r>
            <a:endParaRPr sz="10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308" name="Rectangle 17"/>
          <p:cNvSpPr/>
          <p:nvPr/>
        </p:nvSpPr>
        <p:spPr>
          <a:xfrm>
            <a:off x="8890000" y="2413000"/>
            <a:ext cx="2489200" cy="12700"/>
          </a:xfrm>
          <a:prstGeom prst="rect">
            <a:avLst/>
          </a:prstGeom>
          <a:solidFill>
            <a:srgbClr val="1012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09" name="TextBox 18"/>
          <p:cNvSpPr txBox="1"/>
          <p:nvPr/>
        </p:nvSpPr>
        <p:spPr>
          <a:xfrm>
            <a:off x="8890000" y="2565400"/>
            <a:ext cx="4572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C9280B"/>
                </a:solidFill>
                <a:latin typeface="Noto Sans Mono"/>
              </a:rPr>
              <a:t>04</a:t>
            </a:r>
            <a:endParaRPr sz="800" b="1">
              <a:solidFill>
                <a:srgbClr val="C9280B"/>
              </a:solidFill>
              <a:latin typeface="Noto Sans Mono"/>
            </a:endParaRPr>
          </a:p>
        </p:txBody>
      </p:sp>
      <p:sp>
        <p:nvSpPr>
          <p:cNvPr id="310" name="TextBox 19"/>
          <p:cNvSpPr txBox="1"/>
          <p:nvPr/>
        </p:nvSpPr>
        <p:spPr>
          <a:xfrm>
            <a:off x="8890000" y="2768600"/>
            <a:ext cx="2413000" cy="2453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1215"/>
                </a:solidFill>
                <a:latin typeface="Noto Sans"/>
              </a:rPr>
              <a:t>История</a:t>
            </a:r>
            <a:endParaRPr sz="1400" b="1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311" name="TextBox 20"/>
          <p:cNvSpPr txBox="1"/>
          <p:nvPr/>
        </p:nvSpPr>
        <p:spPr>
          <a:xfrm>
            <a:off x="8890000" y="3225800"/>
            <a:ext cx="2286000" cy="4419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3C434D"/>
                </a:solidFill>
                <a:latin typeface="Noto Sans"/>
              </a:rPr>
              <a:t>Видно, что уже исправлено и что осталось.</a:t>
            </a:r>
            <a:endParaRPr sz="10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312" name="Rectangle 21"/>
          <p:cNvSpPr/>
          <p:nvPr/>
        </p:nvSpPr>
        <p:spPr>
          <a:xfrm>
            <a:off x="812800" y="4521200"/>
            <a:ext cx="10566400" cy="9525"/>
          </a:xfrm>
          <a:prstGeom prst="rect">
            <a:avLst/>
          </a:prstGeom>
          <a:solidFill>
            <a:srgbClr val="C9C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13" name="TextBox 22"/>
          <p:cNvSpPr txBox="1"/>
          <p:nvPr/>
        </p:nvSpPr>
        <p:spPr>
          <a:xfrm>
            <a:off x="812800" y="4800600"/>
            <a:ext cx="10566400" cy="29260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C9280B"/>
                </a:solidFill>
                <a:latin typeface="Noto Serif"/>
              </a:rPr>
              <a:t>Владелец платит не за отчёт, а за то, чтобы не терять заявки.</a:t>
            </a:r>
            <a:endParaRPr sz="1600" b="1">
              <a:solidFill>
                <a:srgbClr val="C9280B"/>
              </a:solidFill>
              <a:latin typeface="Noto Serif"/>
            </a:endParaRPr>
          </a:p>
        </p:txBody>
      </p:sp>
      <p:sp>
        <p:nvSpPr>
          <p:cNvPr id="314" name="TextBox 23"/>
          <p:cNvSpPr txBox="1"/>
          <p:nvPr/>
        </p:nvSpPr>
        <p:spPr>
          <a:xfrm>
            <a:off x="812800" y="6451600"/>
            <a:ext cx="4064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626D"/>
                </a:solidFill>
                <a:latin typeface="Noto Sans Mono"/>
              </a:rPr>
              <a:t>webscope</a:t>
            </a:r>
            <a:endParaRPr sz="800" b="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315" name="TextBox 24"/>
          <p:cNvSpPr txBox="1"/>
          <p:nvPr/>
        </p:nvSpPr>
        <p:spPr>
          <a:xfrm>
            <a:off x="10236200" y="6451600"/>
            <a:ext cx="1143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5A626D"/>
                </a:solidFill>
                <a:latin typeface="Noto Sans Mono"/>
              </a:rPr>
              <a:t>03 / 8</a:t>
            </a:r>
            <a:endParaRPr sz="800" b="0">
              <a:solidFill>
                <a:srgbClr val="5A626D"/>
              </a:solidFill>
              <a:latin typeface="Noto Sans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Box 1"/>
          <p:cNvSpPr txBox="1"/>
          <p:nvPr/>
        </p:nvSpPr>
        <p:spPr>
          <a:xfrm>
            <a:off x="812800" y="406400"/>
            <a:ext cx="8890000" cy="1295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cap="all" spc="100">
                <a:solidFill>
                  <a:srgbClr val="5A626D"/>
                </a:solidFill>
                <a:latin typeface="Noto Sans Mono"/>
              </a:rPr>
              <a:t>03  /  ПРОДУКТ</a:t>
            </a:r>
            <a:endParaRPr sz="850" b="1" cap="all" spc="10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318" name="Rectangle 2"/>
          <p:cNvSpPr/>
          <p:nvPr/>
        </p:nvSpPr>
        <p:spPr>
          <a:xfrm>
            <a:off x="812800" y="660400"/>
            <a:ext cx="10566400" cy="9525"/>
          </a:xfrm>
          <a:prstGeom prst="rect">
            <a:avLst/>
          </a:prstGeom>
          <a:solidFill>
            <a:srgbClr val="C9C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19" name="TextBox 3"/>
          <p:cNvSpPr txBox="1"/>
          <p:nvPr/>
        </p:nvSpPr>
        <p:spPr>
          <a:xfrm>
            <a:off x="812800" y="863600"/>
            <a:ext cx="10566400" cy="5596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101215"/>
                </a:solidFill>
                <a:latin typeface="Noto Serif"/>
              </a:rPr>
              <a:t>Что получает владелец.</a:t>
            </a:r>
            <a:endParaRPr sz="3600" b="1">
              <a:solidFill>
                <a:srgbClr val="101215"/>
              </a:solidFill>
              <a:latin typeface="Noto Serif"/>
            </a:endParaRPr>
          </a:p>
        </p:txBody>
      </p:sp>
      <p:sp>
        <p:nvSpPr>
          <p:cNvPr id="320" name="TextBox 4"/>
          <p:cNvSpPr txBox="1"/>
          <p:nvPr/>
        </p:nvSpPr>
        <p:spPr>
          <a:xfrm>
            <a:off x="812800" y="1625600"/>
            <a:ext cx="10566400" cy="2103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C434D"/>
                </a:solidFill>
                <a:latin typeface="Noto Sans"/>
              </a:rPr>
              <a:t>Одна находка: что сломано, где и как починить.</a:t>
            </a:r>
            <a:endParaRPr sz="115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321" name="Rectangle 5"/>
          <p:cNvSpPr/>
          <p:nvPr/>
        </p:nvSpPr>
        <p:spPr>
          <a:xfrm>
            <a:off x="812800" y="2413000"/>
            <a:ext cx="4826000" cy="12700"/>
          </a:xfrm>
          <a:prstGeom prst="rect">
            <a:avLst/>
          </a:prstGeom>
          <a:solidFill>
            <a:srgbClr val="1012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22" name="TextBox 6"/>
          <p:cNvSpPr txBox="1"/>
          <p:nvPr/>
        </p:nvSpPr>
        <p:spPr>
          <a:xfrm>
            <a:off x="812800" y="2565400"/>
            <a:ext cx="4318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C9280B"/>
                </a:solidFill>
                <a:latin typeface="Noto Sans Mono"/>
              </a:rPr>
              <a:t>01</a:t>
            </a:r>
            <a:endParaRPr sz="800" b="1">
              <a:solidFill>
                <a:srgbClr val="C9280B"/>
              </a:solidFill>
              <a:latin typeface="Noto Sans Mono"/>
            </a:endParaRPr>
          </a:p>
        </p:txBody>
      </p:sp>
      <p:sp>
        <p:nvSpPr>
          <p:cNvPr id="323" name="TextBox 7"/>
          <p:cNvSpPr txBox="1"/>
          <p:nvPr/>
        </p:nvSpPr>
        <p:spPr>
          <a:xfrm>
            <a:off x="1371600" y="2514600"/>
            <a:ext cx="4191000" cy="2453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1215"/>
                </a:solidFill>
                <a:latin typeface="Noto Sans"/>
              </a:rPr>
              <a:t>Открываем как клиент</a:t>
            </a:r>
            <a:endParaRPr sz="1400" b="1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324" name="TextBox 8"/>
          <p:cNvSpPr txBox="1"/>
          <p:nvPr/>
        </p:nvSpPr>
        <p:spPr>
          <a:xfrm>
            <a:off x="1371600" y="2844800"/>
            <a:ext cx="4191000" cy="2133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C434D"/>
                </a:solidFill>
                <a:latin typeface="Noto Sans"/>
              </a:rPr>
              <a:t>Клики, формы, консоль, сеть, мобильная вёрстка.</a:t>
            </a:r>
            <a:endParaRPr sz="10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325" name="Rectangle 9"/>
          <p:cNvSpPr/>
          <p:nvPr/>
        </p:nvSpPr>
        <p:spPr>
          <a:xfrm>
            <a:off x="812800" y="3479800"/>
            <a:ext cx="4826000" cy="12700"/>
          </a:xfrm>
          <a:prstGeom prst="rect">
            <a:avLst/>
          </a:prstGeom>
          <a:solidFill>
            <a:srgbClr val="1012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26" name="TextBox 10"/>
          <p:cNvSpPr txBox="1"/>
          <p:nvPr/>
        </p:nvSpPr>
        <p:spPr>
          <a:xfrm>
            <a:off x="812800" y="3632200"/>
            <a:ext cx="4318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C9280B"/>
                </a:solidFill>
                <a:latin typeface="Noto Sans Mono"/>
              </a:rPr>
              <a:t>02</a:t>
            </a:r>
            <a:endParaRPr sz="800" b="1">
              <a:solidFill>
                <a:srgbClr val="C9280B"/>
              </a:solidFill>
              <a:latin typeface="Noto Sans Mono"/>
            </a:endParaRPr>
          </a:p>
        </p:txBody>
      </p:sp>
      <p:sp>
        <p:nvSpPr>
          <p:cNvPr id="327" name="TextBox 11"/>
          <p:cNvSpPr txBox="1"/>
          <p:nvPr/>
        </p:nvSpPr>
        <p:spPr>
          <a:xfrm>
            <a:off x="1371600" y="3581400"/>
            <a:ext cx="4191000" cy="2453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1215"/>
                </a:solidFill>
                <a:latin typeface="Noto Sans"/>
              </a:rPr>
              <a:t>Подтверждаем</a:t>
            </a:r>
            <a:endParaRPr sz="1400" b="1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328" name="TextBox 12"/>
          <p:cNvSpPr txBox="1"/>
          <p:nvPr/>
        </p:nvSpPr>
        <p:spPr>
          <a:xfrm>
            <a:off x="1371600" y="3911600"/>
            <a:ext cx="4191000" cy="2133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C434D"/>
                </a:solidFill>
                <a:latin typeface="Noto Sans"/>
              </a:rPr>
              <a:t>Каждая находка — с селектором, кодом и причиной.</a:t>
            </a:r>
            <a:endParaRPr sz="10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329" name="Rectangle 13"/>
          <p:cNvSpPr/>
          <p:nvPr/>
        </p:nvSpPr>
        <p:spPr>
          <a:xfrm>
            <a:off x="812800" y="4546600"/>
            <a:ext cx="4826000" cy="12700"/>
          </a:xfrm>
          <a:prstGeom prst="rect">
            <a:avLst/>
          </a:prstGeom>
          <a:solidFill>
            <a:srgbClr val="1012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30" name="TextBox 14"/>
          <p:cNvSpPr txBox="1"/>
          <p:nvPr/>
        </p:nvSpPr>
        <p:spPr>
          <a:xfrm>
            <a:off x="812800" y="4699000"/>
            <a:ext cx="4318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C9280B"/>
                </a:solidFill>
                <a:latin typeface="Noto Sans Mono"/>
              </a:rPr>
              <a:t>03</a:t>
            </a:r>
            <a:endParaRPr sz="800" b="1">
              <a:solidFill>
                <a:srgbClr val="C9280B"/>
              </a:solidFill>
              <a:latin typeface="Noto Sans Mono"/>
            </a:endParaRPr>
          </a:p>
        </p:txBody>
      </p:sp>
      <p:sp>
        <p:nvSpPr>
          <p:cNvPr id="331" name="TextBox 15"/>
          <p:cNvSpPr txBox="1"/>
          <p:nvPr/>
        </p:nvSpPr>
        <p:spPr>
          <a:xfrm>
            <a:off x="1371600" y="4648200"/>
            <a:ext cx="4191000" cy="2453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1215"/>
                </a:solidFill>
                <a:latin typeface="Noto Sans"/>
              </a:rPr>
              <a:t>Объясняем</a:t>
            </a:r>
            <a:endParaRPr sz="1400" b="1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332" name="TextBox 16"/>
          <p:cNvSpPr txBox="1"/>
          <p:nvPr/>
        </p:nvSpPr>
        <p:spPr>
          <a:xfrm>
            <a:off x="1371600" y="4978400"/>
            <a:ext cx="4191000" cy="2133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C434D"/>
                </a:solidFill>
                <a:latin typeface="Noto Sans"/>
              </a:rPr>
              <a:t>Отчёт владельцу + готовое ТЗ разработчику.</a:t>
            </a:r>
            <a:endParaRPr sz="10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333" name="Rectangle 17"/>
          <p:cNvSpPr/>
          <p:nvPr/>
        </p:nvSpPr>
        <p:spPr>
          <a:xfrm>
            <a:off x="6604000" y="2209800"/>
            <a:ext cx="4775200" cy="19050"/>
          </a:xfrm>
          <a:prstGeom prst="rect">
            <a:avLst/>
          </a:prstGeom>
          <a:solidFill>
            <a:srgbClr val="1012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34" name="TextBox 18"/>
          <p:cNvSpPr txBox="1"/>
          <p:nvPr/>
        </p:nvSpPr>
        <p:spPr>
          <a:xfrm>
            <a:off x="6604000" y="2387600"/>
            <a:ext cx="47752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cap="all" spc="80">
                <a:solidFill>
                  <a:srgbClr val="C9280B"/>
                </a:solidFill>
                <a:latin typeface="Noto Sans Mono"/>
              </a:rPr>
              <a:t>БЛОКИРУЕТ КЛИКИ</a:t>
            </a:r>
            <a:endParaRPr sz="800" b="1" cap="all" spc="80">
              <a:solidFill>
                <a:srgbClr val="C9280B"/>
              </a:solidFill>
              <a:latin typeface="Noto Sans Mono"/>
            </a:endParaRPr>
          </a:p>
        </p:txBody>
      </p:sp>
      <p:sp>
        <p:nvSpPr>
          <p:cNvPr id="335" name="TextBox 19"/>
          <p:cNvSpPr txBox="1"/>
          <p:nvPr/>
        </p:nvSpPr>
        <p:spPr>
          <a:xfrm>
            <a:off x="6604000" y="2667000"/>
            <a:ext cx="4775200" cy="5715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01215"/>
                </a:solidFill>
                <a:latin typeface="Noto Sans"/>
              </a:rPr>
              <a:t>Кнопку нельзя нажать:</a:t>
            </a:r>
            <a:endParaRPr sz="1500" b="1">
              <a:solidFill>
                <a:srgbClr val="101215"/>
              </a:solidFill>
              <a:latin typeface="Noto Sans"/>
            </a:endParaRP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101215"/>
                </a:solidFill>
                <a:latin typeface="Noto Sans"/>
              </a:rPr>
              <a:t>её перекрывает баннер</a:t>
            </a:r>
            <a:endParaRPr sz="1500" b="1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336" name="TextBox 20"/>
          <p:cNvSpPr txBox="1"/>
          <p:nvPr/>
        </p:nvSpPr>
        <p:spPr>
          <a:xfrm>
            <a:off x="6604000" y="3479800"/>
            <a:ext cx="47752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cap="all" spc="80">
                <a:solidFill>
                  <a:srgbClr val="5A626D"/>
                </a:solidFill>
                <a:latin typeface="Noto Sans Mono"/>
              </a:rPr>
              <a:t>СЕЛЕКТОР</a:t>
            </a:r>
            <a:endParaRPr sz="800" b="1" cap="all" spc="8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337" name="TextBox 21"/>
          <p:cNvSpPr txBox="1"/>
          <p:nvPr/>
        </p:nvSpPr>
        <p:spPr>
          <a:xfrm>
            <a:off x="6604000" y="3657600"/>
            <a:ext cx="4775200" cy="1676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01215"/>
                </a:solidFill>
                <a:latin typeface="Noto Sans Mono"/>
              </a:rPr>
              <a:t>#cta</a:t>
            </a:r>
            <a:endParaRPr sz="1100" b="1">
              <a:solidFill>
                <a:srgbClr val="101215"/>
              </a:solidFill>
              <a:latin typeface="Noto Sans Mono"/>
            </a:endParaRPr>
          </a:p>
        </p:txBody>
      </p:sp>
      <p:sp>
        <p:nvSpPr>
          <p:cNvPr id="338" name="TextBox 22"/>
          <p:cNvSpPr txBox="1"/>
          <p:nvPr/>
        </p:nvSpPr>
        <p:spPr>
          <a:xfrm>
            <a:off x="6604000" y="4114800"/>
            <a:ext cx="47752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cap="all" spc="80">
                <a:solidFill>
                  <a:srgbClr val="5A626D"/>
                </a:solidFill>
                <a:latin typeface="Noto Sans Mono"/>
              </a:rPr>
              <a:t>ЧТО СДЕЛАТЬ</a:t>
            </a:r>
            <a:endParaRPr sz="800" b="1" cap="all" spc="8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339" name="TextBox 23"/>
          <p:cNvSpPr txBox="1"/>
          <p:nvPr/>
        </p:nvSpPr>
        <p:spPr>
          <a:xfrm>
            <a:off x="6604000" y="4318000"/>
            <a:ext cx="4470400" cy="2240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C434D"/>
                </a:solidFill>
                <a:latin typeface="Noto Sans"/>
              </a:rPr>
              <a:t>Убрать перекрывающий элемент или поднять кнопку по z-index.</a:t>
            </a:r>
            <a:endParaRPr sz="105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340" name="TextBox 24"/>
          <p:cNvSpPr txBox="1"/>
          <p:nvPr/>
        </p:nvSpPr>
        <p:spPr>
          <a:xfrm>
            <a:off x="6604000" y="5791200"/>
            <a:ext cx="4775200" cy="1295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626D"/>
                </a:solidFill>
                <a:latin typeface="Noto Sans Mono"/>
              </a:rPr>
              <a:t>Пример отчёта. Проверка демо-стенда.</a:t>
            </a:r>
            <a:endParaRPr sz="850" b="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341" name="TextBox 25"/>
          <p:cNvSpPr txBox="1"/>
          <p:nvPr/>
        </p:nvSpPr>
        <p:spPr>
          <a:xfrm>
            <a:off x="812800" y="6451600"/>
            <a:ext cx="4064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626D"/>
                </a:solidFill>
                <a:latin typeface="Noto Sans Mono"/>
              </a:rPr>
              <a:t>webscope</a:t>
            </a:r>
            <a:endParaRPr sz="800" b="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342" name="TextBox 26"/>
          <p:cNvSpPr txBox="1"/>
          <p:nvPr/>
        </p:nvSpPr>
        <p:spPr>
          <a:xfrm>
            <a:off x="10236200" y="6451600"/>
            <a:ext cx="1143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5A626D"/>
                </a:solidFill>
                <a:latin typeface="Noto Sans Mono"/>
              </a:rPr>
              <a:t>04 / 8</a:t>
            </a:r>
            <a:endParaRPr sz="800" b="0">
              <a:solidFill>
                <a:srgbClr val="5A626D"/>
              </a:solidFill>
              <a:latin typeface="Noto Sans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extBox 1"/>
          <p:cNvSpPr txBox="1"/>
          <p:nvPr/>
        </p:nvSpPr>
        <p:spPr>
          <a:xfrm>
            <a:off x="812800" y="406400"/>
            <a:ext cx="8890000" cy="1295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cap="all" spc="100">
                <a:solidFill>
                  <a:srgbClr val="5A626D"/>
                </a:solidFill>
                <a:latin typeface="Noto Sans Mono"/>
              </a:rPr>
              <a:t>04  /  КОМУ И ЗА СКОЛЬКО</a:t>
            </a:r>
            <a:endParaRPr sz="850" b="1" cap="all" spc="10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345" name="Rectangle 2"/>
          <p:cNvSpPr/>
          <p:nvPr/>
        </p:nvSpPr>
        <p:spPr>
          <a:xfrm>
            <a:off x="812800" y="660400"/>
            <a:ext cx="10566400" cy="9525"/>
          </a:xfrm>
          <a:prstGeom prst="rect">
            <a:avLst/>
          </a:prstGeom>
          <a:solidFill>
            <a:srgbClr val="C9C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46" name="TextBox 3"/>
          <p:cNvSpPr txBox="1"/>
          <p:nvPr/>
        </p:nvSpPr>
        <p:spPr>
          <a:xfrm>
            <a:off x="812800" y="863600"/>
            <a:ext cx="10566400" cy="62179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101215"/>
                </a:solidFill>
                <a:latin typeface="Noto Serif"/>
              </a:rPr>
              <a:t>Малый бизнес и ИП.</a:t>
            </a:r>
            <a:endParaRPr sz="4000" b="1">
              <a:solidFill>
                <a:srgbClr val="101215"/>
              </a:solidFill>
              <a:latin typeface="Noto Serif"/>
            </a:endParaRPr>
          </a:p>
        </p:txBody>
      </p:sp>
      <p:sp>
        <p:nvSpPr>
          <p:cNvPr id="347" name="TextBox 4"/>
          <p:cNvSpPr txBox="1"/>
          <p:nvPr/>
        </p:nvSpPr>
        <p:spPr>
          <a:xfrm>
            <a:off x="812800" y="1625600"/>
            <a:ext cx="10566400" cy="2103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C434D"/>
                </a:solidFill>
                <a:latin typeface="Noto Sans"/>
              </a:rPr>
              <a:t>Тем, у кого сайт приносит заявки, но нет человека на техпроверку.</a:t>
            </a:r>
            <a:endParaRPr sz="115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348" name="Rectangle 5"/>
          <p:cNvSpPr/>
          <p:nvPr/>
        </p:nvSpPr>
        <p:spPr>
          <a:xfrm>
            <a:off x="812800" y="2311400"/>
            <a:ext cx="4826000" cy="12700"/>
          </a:xfrm>
          <a:prstGeom prst="rect">
            <a:avLst/>
          </a:prstGeom>
          <a:solidFill>
            <a:srgbClr val="1012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49" name="TextBox 6"/>
          <p:cNvSpPr txBox="1"/>
          <p:nvPr/>
        </p:nvSpPr>
        <p:spPr>
          <a:xfrm>
            <a:off x="812800" y="2489200"/>
            <a:ext cx="4826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cap="all" spc="80">
                <a:solidFill>
                  <a:srgbClr val="5A626D"/>
                </a:solidFill>
                <a:latin typeface="Noto Sans Mono"/>
              </a:rPr>
              <a:t>СЕГМЕНТ</a:t>
            </a:r>
            <a:endParaRPr sz="800" b="1" cap="all" spc="8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350" name="TextBox 7"/>
          <p:cNvSpPr txBox="1"/>
          <p:nvPr/>
        </p:nvSpPr>
        <p:spPr>
          <a:xfrm>
            <a:off x="812800" y="2717800"/>
            <a:ext cx="4826000" cy="33528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01215"/>
                </a:solidFill>
                <a:latin typeface="Noto Serif"/>
              </a:rPr>
              <a:t>Малый бизнес</a:t>
            </a:r>
            <a:endParaRPr sz="2000" b="1">
              <a:solidFill>
                <a:srgbClr val="101215"/>
              </a:solidFill>
              <a:latin typeface="Noto Serif"/>
            </a:endParaRPr>
          </a:p>
        </p:txBody>
      </p:sp>
      <p:sp>
        <p:nvSpPr>
          <p:cNvPr id="351" name="TextBox 8"/>
          <p:cNvSpPr txBox="1"/>
          <p:nvPr/>
        </p:nvSpPr>
        <p:spPr>
          <a:xfrm>
            <a:off x="812800" y="3200400"/>
            <a:ext cx="4572000" cy="23202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C434D"/>
                </a:solidFill>
                <a:latin typeface="Noto Sans"/>
              </a:rPr>
              <a:t>Услуги, торговля, e-commerce. Заявка с сайта — основной канал.</a:t>
            </a:r>
            <a:endParaRPr sz="105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352" name="TextBox 9"/>
          <p:cNvSpPr txBox="1"/>
          <p:nvPr/>
        </p:nvSpPr>
        <p:spPr>
          <a:xfrm>
            <a:off x="812800" y="3860800"/>
            <a:ext cx="3810000" cy="1981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280B"/>
                </a:solidFill>
                <a:latin typeface="Noto Sans Mono"/>
              </a:rPr>
              <a:t>Solo  $12/мес</a:t>
            </a:r>
            <a:endParaRPr sz="1300" b="1">
              <a:solidFill>
                <a:srgbClr val="C9280B"/>
              </a:solidFill>
              <a:latin typeface="Noto Sans Mono"/>
            </a:endParaRPr>
          </a:p>
        </p:txBody>
      </p:sp>
      <p:sp>
        <p:nvSpPr>
          <p:cNvPr id="353" name="Rectangle 10"/>
          <p:cNvSpPr/>
          <p:nvPr/>
        </p:nvSpPr>
        <p:spPr>
          <a:xfrm>
            <a:off x="6553200" y="2311400"/>
            <a:ext cx="4826000" cy="12700"/>
          </a:xfrm>
          <a:prstGeom prst="rect">
            <a:avLst/>
          </a:prstGeom>
          <a:solidFill>
            <a:srgbClr val="1012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54" name="TextBox 11"/>
          <p:cNvSpPr txBox="1"/>
          <p:nvPr/>
        </p:nvSpPr>
        <p:spPr>
          <a:xfrm>
            <a:off x="6553200" y="2489200"/>
            <a:ext cx="4826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cap="all" spc="80">
                <a:solidFill>
                  <a:srgbClr val="5A626D"/>
                </a:solidFill>
                <a:latin typeface="Noto Sans Mono"/>
              </a:rPr>
              <a:t>СЕГМЕНТ</a:t>
            </a:r>
            <a:endParaRPr sz="800" b="1" cap="all" spc="8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355" name="TextBox 12"/>
          <p:cNvSpPr txBox="1"/>
          <p:nvPr/>
        </p:nvSpPr>
        <p:spPr>
          <a:xfrm>
            <a:off x="6553200" y="2717800"/>
            <a:ext cx="4826000" cy="33528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01215"/>
                </a:solidFill>
                <a:latin typeface="Noto Serif"/>
              </a:rPr>
              <a:t>ИП и самозанятые</a:t>
            </a:r>
            <a:endParaRPr sz="2000" b="1">
              <a:solidFill>
                <a:srgbClr val="101215"/>
              </a:solidFill>
              <a:latin typeface="Noto Serif"/>
            </a:endParaRPr>
          </a:p>
        </p:txBody>
      </p:sp>
      <p:sp>
        <p:nvSpPr>
          <p:cNvPr id="356" name="TextBox 13"/>
          <p:cNvSpPr txBox="1"/>
          <p:nvPr/>
        </p:nvSpPr>
        <p:spPr>
          <a:xfrm>
            <a:off x="6553200" y="3200400"/>
            <a:ext cx="4572000" cy="23202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C434D"/>
                </a:solidFill>
                <a:latin typeface="Noto Sans"/>
              </a:rPr>
              <a:t>Лендинг, портфолио, одна страница. Настраивают сами.</a:t>
            </a:r>
            <a:endParaRPr sz="105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357" name="TextBox 14"/>
          <p:cNvSpPr txBox="1"/>
          <p:nvPr/>
        </p:nvSpPr>
        <p:spPr>
          <a:xfrm>
            <a:off x="6553200" y="3860800"/>
            <a:ext cx="3810000" cy="1981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280B"/>
                </a:solidFill>
                <a:latin typeface="Noto Sans Mono"/>
              </a:rPr>
              <a:t>Solo  $12/мес</a:t>
            </a:r>
            <a:endParaRPr sz="1300" b="1">
              <a:solidFill>
                <a:srgbClr val="C9280B"/>
              </a:solidFill>
              <a:latin typeface="Noto Sans Mono"/>
            </a:endParaRPr>
          </a:p>
        </p:txBody>
      </p:sp>
      <p:sp>
        <p:nvSpPr>
          <p:cNvPr id="358" name="Rectangle 15"/>
          <p:cNvSpPr/>
          <p:nvPr/>
        </p:nvSpPr>
        <p:spPr>
          <a:xfrm>
            <a:off x="812800" y="4445000"/>
            <a:ext cx="10566400" cy="9525"/>
          </a:xfrm>
          <a:prstGeom prst="rect">
            <a:avLst/>
          </a:prstGeom>
          <a:solidFill>
            <a:srgbClr val="C9C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59" name="TextBox 16"/>
          <p:cNvSpPr txBox="1"/>
          <p:nvPr/>
        </p:nvSpPr>
        <p:spPr>
          <a:xfrm>
            <a:off x="812800" y="4673600"/>
            <a:ext cx="3175000" cy="2438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215"/>
                </a:solidFill>
                <a:latin typeface="Noto Sans Mono"/>
              </a:rPr>
              <a:t>$12/мес</a:t>
            </a:r>
            <a:endParaRPr sz="1600" b="1">
              <a:solidFill>
                <a:srgbClr val="101215"/>
              </a:solidFill>
              <a:latin typeface="Noto Sans Mono"/>
            </a:endParaRPr>
          </a:p>
        </p:txBody>
      </p:sp>
      <p:sp>
        <p:nvSpPr>
          <p:cNvPr id="360" name="TextBox 17"/>
          <p:cNvSpPr txBox="1"/>
          <p:nvPr/>
        </p:nvSpPr>
        <p:spPr>
          <a:xfrm>
            <a:off x="812800" y="5054600"/>
            <a:ext cx="3175000" cy="16459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626D"/>
                </a:solidFill>
                <a:latin typeface="Noto Sans Mono"/>
              </a:rPr>
              <a:t>за сайт</a:t>
            </a:r>
            <a:endParaRPr sz="900" b="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361" name="TextBox 18"/>
          <p:cNvSpPr txBox="1"/>
          <p:nvPr/>
        </p:nvSpPr>
        <p:spPr>
          <a:xfrm>
            <a:off x="4445000" y="4673600"/>
            <a:ext cx="3175000" cy="2438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215"/>
                </a:solidFill>
                <a:latin typeface="Noto Sans Mono"/>
              </a:rPr>
              <a:t>10 клиентов</a:t>
            </a:r>
            <a:endParaRPr sz="1600" b="1">
              <a:solidFill>
                <a:srgbClr val="101215"/>
              </a:solidFill>
              <a:latin typeface="Noto Sans Mono"/>
            </a:endParaRPr>
          </a:p>
        </p:txBody>
      </p:sp>
      <p:sp>
        <p:nvSpPr>
          <p:cNvPr id="362" name="TextBox 19"/>
          <p:cNvSpPr txBox="1"/>
          <p:nvPr/>
        </p:nvSpPr>
        <p:spPr>
          <a:xfrm>
            <a:off x="4445000" y="5054600"/>
            <a:ext cx="3175000" cy="16459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626D"/>
                </a:solidFill>
                <a:latin typeface="Noto Sans Mono"/>
              </a:rPr>
              <a:t>покрывают инфраструктуру</a:t>
            </a:r>
            <a:endParaRPr sz="900" b="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363" name="TextBox 20"/>
          <p:cNvSpPr txBox="1"/>
          <p:nvPr/>
        </p:nvSpPr>
        <p:spPr>
          <a:xfrm>
            <a:off x="8077200" y="4673600"/>
            <a:ext cx="3175000" cy="2438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215"/>
                </a:solidFill>
                <a:latin typeface="Noto Sans Mono"/>
              </a:rPr>
              <a:t>80 сайтов</a:t>
            </a:r>
            <a:endParaRPr sz="1600" b="1">
              <a:solidFill>
                <a:srgbClr val="101215"/>
              </a:solidFill>
              <a:latin typeface="Noto Sans Mono"/>
            </a:endParaRPr>
          </a:p>
        </p:txBody>
      </p:sp>
      <p:sp>
        <p:nvSpPr>
          <p:cNvPr id="364" name="TextBox 21"/>
          <p:cNvSpPr txBox="1"/>
          <p:nvPr/>
        </p:nvSpPr>
        <p:spPr>
          <a:xfrm>
            <a:off x="8077200" y="5054600"/>
            <a:ext cx="3175000" cy="16459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626D"/>
                </a:solidFill>
                <a:latin typeface="Noto Sans Mono"/>
              </a:rPr>
              <a:t>сценарий к дек. 2027</a:t>
            </a:r>
            <a:endParaRPr sz="900" b="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365" name="TextBox 22"/>
          <p:cNvSpPr txBox="1"/>
          <p:nvPr/>
        </p:nvSpPr>
        <p:spPr>
          <a:xfrm>
            <a:off x="812800" y="5664200"/>
            <a:ext cx="10566400" cy="16459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626D"/>
                </a:solidFill>
                <a:latin typeface="Noto Sans"/>
              </a:rPr>
              <a:t>1,2 млн сайтов РФ → 250 тыс. с заявками. Free — разовая проверка.</a:t>
            </a:r>
            <a:endParaRPr sz="900" b="0">
              <a:solidFill>
                <a:srgbClr val="5A626D"/>
              </a:solidFill>
              <a:latin typeface="Noto Sans"/>
            </a:endParaRPr>
          </a:p>
        </p:txBody>
      </p:sp>
      <p:sp>
        <p:nvSpPr>
          <p:cNvPr id="366" name="TextBox 23"/>
          <p:cNvSpPr txBox="1"/>
          <p:nvPr/>
        </p:nvSpPr>
        <p:spPr>
          <a:xfrm>
            <a:off x="812800" y="5892800"/>
            <a:ext cx="10566400" cy="16459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626D"/>
                </a:solidFill>
                <a:latin typeface="Noto Sans"/>
              </a:rPr>
              <a:t>Веб-студии — позже. Оплата в BYN по курсу.</a:t>
            </a:r>
            <a:endParaRPr sz="900" b="0">
              <a:solidFill>
                <a:srgbClr val="5A626D"/>
              </a:solidFill>
              <a:latin typeface="Noto Sans"/>
            </a:endParaRPr>
          </a:p>
        </p:txBody>
      </p:sp>
      <p:sp>
        <p:nvSpPr>
          <p:cNvPr id="367" name="TextBox 24"/>
          <p:cNvSpPr txBox="1"/>
          <p:nvPr/>
        </p:nvSpPr>
        <p:spPr>
          <a:xfrm>
            <a:off x="812800" y="6451600"/>
            <a:ext cx="4064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626D"/>
                </a:solidFill>
                <a:latin typeface="Noto Sans Mono"/>
              </a:rPr>
              <a:t>webscope</a:t>
            </a:r>
            <a:endParaRPr sz="800" b="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368" name="TextBox 25"/>
          <p:cNvSpPr txBox="1"/>
          <p:nvPr/>
        </p:nvSpPr>
        <p:spPr>
          <a:xfrm>
            <a:off x="10236200" y="6451600"/>
            <a:ext cx="1143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5A626D"/>
                </a:solidFill>
                <a:latin typeface="Noto Sans Mono"/>
              </a:rPr>
              <a:t>05 / 8</a:t>
            </a:r>
            <a:endParaRPr sz="800" b="0">
              <a:solidFill>
                <a:srgbClr val="5A626D"/>
              </a:solidFill>
              <a:latin typeface="Noto Sans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extBox 1"/>
          <p:cNvSpPr txBox="1"/>
          <p:nvPr/>
        </p:nvSpPr>
        <p:spPr>
          <a:xfrm>
            <a:off x="812800" y="406400"/>
            <a:ext cx="8890000" cy="1295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cap="all" spc="100">
                <a:solidFill>
                  <a:srgbClr val="5A626D"/>
                </a:solidFill>
                <a:latin typeface="Noto Sans Mono"/>
              </a:rPr>
              <a:t>05  /  ПОЧЕМУ МЫ</a:t>
            </a:r>
            <a:endParaRPr sz="850" b="1" cap="all" spc="10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371" name="Rectangle 2"/>
          <p:cNvSpPr/>
          <p:nvPr/>
        </p:nvSpPr>
        <p:spPr>
          <a:xfrm>
            <a:off x="812800" y="660400"/>
            <a:ext cx="10566400" cy="9525"/>
          </a:xfrm>
          <a:prstGeom prst="rect">
            <a:avLst/>
          </a:prstGeom>
          <a:solidFill>
            <a:srgbClr val="C9C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72" name="TextBox 3"/>
          <p:cNvSpPr txBox="1"/>
          <p:nvPr/>
        </p:nvSpPr>
        <p:spPr>
          <a:xfrm>
            <a:off x="812800" y="863600"/>
            <a:ext cx="10566400" cy="59070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>
                <a:solidFill>
                  <a:srgbClr val="101215"/>
                </a:solidFill>
                <a:latin typeface="Noto Serif"/>
              </a:rPr>
              <a:t>Не ещё один аудит.</a:t>
            </a:r>
            <a:endParaRPr sz="3800" b="1">
              <a:solidFill>
                <a:srgbClr val="101215"/>
              </a:solidFill>
              <a:latin typeface="Noto Serif"/>
            </a:endParaRPr>
          </a:p>
        </p:txBody>
      </p:sp>
      <p:sp>
        <p:nvSpPr>
          <p:cNvPr id="373" name="TextBox 4"/>
          <p:cNvSpPr txBox="1"/>
          <p:nvPr/>
        </p:nvSpPr>
        <p:spPr>
          <a:xfrm>
            <a:off x="812800" y="1625600"/>
            <a:ext cx="10566400" cy="2103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C434D"/>
                </a:solidFill>
                <a:latin typeface="Noto Sans"/>
              </a:rPr>
              <a:t>Сравнение по тому, что видит владелец.</a:t>
            </a:r>
            <a:endParaRPr sz="115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374" name="Rectangle 5"/>
          <p:cNvSpPr/>
          <p:nvPr/>
        </p:nvSpPr>
        <p:spPr>
          <a:xfrm>
            <a:off x="812800" y="2006600"/>
            <a:ext cx="10566400" cy="431800"/>
          </a:xfrm>
          <a:prstGeom prst="rect">
            <a:avLst/>
          </a:prstGeom>
          <a:solidFill>
            <a:srgbClr val="1012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75" name="Rectangle 6"/>
          <p:cNvSpPr/>
          <p:nvPr/>
        </p:nvSpPr>
        <p:spPr>
          <a:xfrm>
            <a:off x="8940800" y="2006600"/>
            <a:ext cx="2438400" cy="50800"/>
          </a:xfrm>
          <a:prstGeom prst="rect">
            <a:avLst/>
          </a:prstGeom>
          <a:solidFill>
            <a:srgbClr val="FF5A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76" name="TextBox 7"/>
          <p:cNvSpPr txBox="1"/>
          <p:nvPr/>
        </p:nvSpPr>
        <p:spPr>
          <a:xfrm>
            <a:off x="2844800" y="2133600"/>
            <a:ext cx="1778000" cy="15925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  <a:latin typeface="Noto Sans"/>
              </a:rPr>
              <a:t>Lighthouse</a:t>
            </a:r>
            <a:endParaRPr sz="950" b="0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377" name="TextBox 8"/>
          <p:cNvSpPr txBox="1"/>
          <p:nvPr/>
        </p:nvSpPr>
        <p:spPr>
          <a:xfrm>
            <a:off x="4876800" y="2133600"/>
            <a:ext cx="1778000" cy="15925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  <a:latin typeface="Noto Sans"/>
              </a:rPr>
              <a:t>Ручной аудит</a:t>
            </a:r>
            <a:endParaRPr sz="950" b="0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378" name="TextBox 9"/>
          <p:cNvSpPr txBox="1"/>
          <p:nvPr/>
        </p:nvSpPr>
        <p:spPr>
          <a:xfrm>
            <a:off x="6908800" y="2133600"/>
            <a:ext cx="1905000" cy="15925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  <a:latin typeface="Noto Sans"/>
              </a:rPr>
              <a:t>Uptime</a:t>
            </a:r>
            <a:endParaRPr sz="950" b="0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379" name="TextBox 10"/>
          <p:cNvSpPr txBox="1"/>
          <p:nvPr/>
        </p:nvSpPr>
        <p:spPr>
          <a:xfrm>
            <a:off x="9067800" y="2133600"/>
            <a:ext cx="2184400" cy="15925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Noto Sans"/>
              </a:rPr>
              <a:t>webscope</a:t>
            </a:r>
            <a:endParaRPr sz="950" b="1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380" name="TextBox 11"/>
          <p:cNvSpPr txBox="1"/>
          <p:nvPr/>
        </p:nvSpPr>
        <p:spPr>
          <a:xfrm>
            <a:off x="939800" y="2565400"/>
            <a:ext cx="1701800" cy="17830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5A626D"/>
                </a:solidFill>
                <a:latin typeface="Noto Sans"/>
              </a:rPr>
              <a:t>Что видит</a:t>
            </a:r>
            <a:endParaRPr sz="900" b="1">
              <a:solidFill>
                <a:srgbClr val="5A626D"/>
              </a:solidFill>
              <a:latin typeface="Noto Sans"/>
            </a:endParaRPr>
          </a:p>
        </p:txBody>
      </p:sp>
      <p:sp>
        <p:nvSpPr>
          <p:cNvPr id="381" name="TextBox 12"/>
          <p:cNvSpPr txBox="1"/>
          <p:nvPr/>
        </p:nvSpPr>
        <p:spPr>
          <a:xfrm>
            <a:off x="2844800" y="2565400"/>
            <a:ext cx="1803400" cy="1851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3C434D"/>
                </a:solidFill>
                <a:latin typeface="Noto Sans"/>
              </a:rPr>
              <a:t>метрики и правила</a:t>
            </a:r>
            <a:endParaRPr sz="9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382" name="TextBox 13"/>
          <p:cNvSpPr txBox="1"/>
          <p:nvPr/>
        </p:nvSpPr>
        <p:spPr>
          <a:xfrm>
            <a:off x="4876800" y="2565400"/>
            <a:ext cx="1803400" cy="1851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3C434D"/>
                </a:solidFill>
                <a:latin typeface="Noto Sans"/>
              </a:rPr>
              <a:t>всё, вручную</a:t>
            </a:r>
            <a:endParaRPr sz="9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383" name="TextBox 14"/>
          <p:cNvSpPr txBox="1"/>
          <p:nvPr/>
        </p:nvSpPr>
        <p:spPr>
          <a:xfrm>
            <a:off x="6908800" y="2565400"/>
            <a:ext cx="1930400" cy="1851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3C434D"/>
                </a:solidFill>
                <a:latin typeface="Noto Sans"/>
              </a:rPr>
              <a:t>сервер отвечает</a:t>
            </a:r>
            <a:endParaRPr sz="9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384" name="TextBox 15"/>
          <p:cNvSpPr txBox="1"/>
          <p:nvPr/>
        </p:nvSpPr>
        <p:spPr>
          <a:xfrm>
            <a:off x="9067800" y="2565400"/>
            <a:ext cx="2209800" cy="1851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>
                <a:solidFill>
                  <a:srgbClr val="101215"/>
                </a:solidFill>
                <a:latin typeface="Noto Sans"/>
              </a:rPr>
              <a:t>клики, формы, заявки</a:t>
            </a:r>
            <a:endParaRPr sz="900" b="1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385" name="Rectangle 16"/>
          <p:cNvSpPr/>
          <p:nvPr/>
        </p:nvSpPr>
        <p:spPr>
          <a:xfrm>
            <a:off x="812800" y="3124200"/>
            <a:ext cx="10566400" cy="9525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86" name="TextBox 17"/>
          <p:cNvSpPr txBox="1"/>
          <p:nvPr/>
        </p:nvSpPr>
        <p:spPr>
          <a:xfrm>
            <a:off x="939800" y="3251200"/>
            <a:ext cx="1701800" cy="17830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5A626D"/>
                </a:solidFill>
                <a:latin typeface="Noto Sans"/>
              </a:rPr>
              <a:t>Когда</a:t>
            </a:r>
            <a:endParaRPr sz="900" b="1">
              <a:solidFill>
                <a:srgbClr val="5A626D"/>
              </a:solidFill>
              <a:latin typeface="Noto Sans"/>
            </a:endParaRPr>
          </a:p>
        </p:txBody>
      </p:sp>
      <p:sp>
        <p:nvSpPr>
          <p:cNvPr id="387" name="TextBox 18"/>
          <p:cNvSpPr txBox="1"/>
          <p:nvPr/>
        </p:nvSpPr>
        <p:spPr>
          <a:xfrm>
            <a:off x="2844800" y="3251200"/>
            <a:ext cx="1803400" cy="1851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3C434D"/>
                </a:solidFill>
                <a:latin typeface="Noto Sans"/>
              </a:rPr>
              <a:t>разово</a:t>
            </a:r>
            <a:endParaRPr sz="9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388" name="TextBox 19"/>
          <p:cNvSpPr txBox="1"/>
          <p:nvPr/>
        </p:nvSpPr>
        <p:spPr>
          <a:xfrm>
            <a:off x="4876800" y="3251200"/>
            <a:ext cx="1803400" cy="1851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3C434D"/>
                </a:solidFill>
                <a:latin typeface="Noto Sans"/>
              </a:rPr>
              <a:t>раз в 2–3 недели</a:t>
            </a:r>
            <a:endParaRPr sz="9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389" name="TextBox 20"/>
          <p:cNvSpPr txBox="1"/>
          <p:nvPr/>
        </p:nvSpPr>
        <p:spPr>
          <a:xfrm>
            <a:off x="6908800" y="3251200"/>
            <a:ext cx="1930400" cy="1851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3C434D"/>
                </a:solidFill>
                <a:latin typeface="Noto Sans"/>
              </a:rPr>
              <a:t>24/7, поверхностно</a:t>
            </a:r>
            <a:endParaRPr sz="9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390" name="TextBox 21"/>
          <p:cNvSpPr txBox="1"/>
          <p:nvPr/>
        </p:nvSpPr>
        <p:spPr>
          <a:xfrm>
            <a:off x="9067800" y="3251200"/>
            <a:ext cx="2209800" cy="1851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>
                <a:solidFill>
                  <a:srgbClr val="101215"/>
                </a:solidFill>
                <a:latin typeface="Noto Sans"/>
              </a:rPr>
              <a:t>еженедельно + дифф</a:t>
            </a:r>
            <a:endParaRPr sz="900" b="1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391" name="Rectangle 22"/>
          <p:cNvSpPr/>
          <p:nvPr/>
        </p:nvSpPr>
        <p:spPr>
          <a:xfrm>
            <a:off x="812800" y="3810000"/>
            <a:ext cx="10566400" cy="9525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92" name="TextBox 23"/>
          <p:cNvSpPr txBox="1"/>
          <p:nvPr/>
        </p:nvSpPr>
        <p:spPr>
          <a:xfrm>
            <a:off x="939800" y="3937000"/>
            <a:ext cx="1701800" cy="17830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5A626D"/>
                </a:solidFill>
                <a:latin typeface="Noto Sans"/>
              </a:rPr>
              <a:t>Цена</a:t>
            </a:r>
            <a:endParaRPr sz="900" b="1">
              <a:solidFill>
                <a:srgbClr val="5A626D"/>
              </a:solidFill>
              <a:latin typeface="Noto Sans"/>
            </a:endParaRPr>
          </a:p>
        </p:txBody>
      </p:sp>
      <p:sp>
        <p:nvSpPr>
          <p:cNvPr id="393" name="TextBox 24"/>
          <p:cNvSpPr txBox="1"/>
          <p:nvPr/>
        </p:nvSpPr>
        <p:spPr>
          <a:xfrm>
            <a:off x="2844800" y="3937000"/>
            <a:ext cx="1803400" cy="1851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3C434D"/>
                </a:solidFill>
                <a:latin typeface="Noto Sans"/>
              </a:rPr>
              <a:t>$0</a:t>
            </a:r>
            <a:endParaRPr sz="9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394" name="TextBox 25"/>
          <p:cNvSpPr txBox="1"/>
          <p:nvPr/>
        </p:nvSpPr>
        <p:spPr>
          <a:xfrm>
            <a:off x="4876800" y="3937000"/>
            <a:ext cx="1803400" cy="1851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3C434D"/>
                </a:solidFill>
                <a:latin typeface="Noto Sans"/>
              </a:rPr>
              <a:t>$200–3 000</a:t>
            </a:r>
            <a:endParaRPr sz="9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395" name="TextBox 26"/>
          <p:cNvSpPr txBox="1"/>
          <p:nvPr/>
        </p:nvSpPr>
        <p:spPr>
          <a:xfrm>
            <a:off x="6908800" y="3937000"/>
            <a:ext cx="1930400" cy="1851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3C434D"/>
                </a:solidFill>
                <a:latin typeface="Noto Sans"/>
              </a:rPr>
              <a:t>$6–35/мес</a:t>
            </a:r>
            <a:endParaRPr sz="9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396" name="TextBox 27"/>
          <p:cNvSpPr txBox="1"/>
          <p:nvPr/>
        </p:nvSpPr>
        <p:spPr>
          <a:xfrm>
            <a:off x="9067800" y="3937000"/>
            <a:ext cx="2209800" cy="1851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>
                <a:solidFill>
                  <a:srgbClr val="101215"/>
                </a:solidFill>
                <a:latin typeface="Noto Sans"/>
              </a:rPr>
              <a:t>$12/мес за сайт</a:t>
            </a:r>
            <a:endParaRPr sz="900" b="1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397" name="Rectangle 28"/>
          <p:cNvSpPr/>
          <p:nvPr/>
        </p:nvSpPr>
        <p:spPr>
          <a:xfrm>
            <a:off x="812800" y="4495800"/>
            <a:ext cx="10566400" cy="9525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98" name="TextBox 29"/>
          <p:cNvSpPr txBox="1"/>
          <p:nvPr/>
        </p:nvSpPr>
        <p:spPr>
          <a:xfrm>
            <a:off x="939800" y="4622800"/>
            <a:ext cx="1701800" cy="17830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5A626D"/>
                </a:solidFill>
                <a:latin typeface="Noto Sans"/>
              </a:rPr>
              <a:t>Язык</a:t>
            </a:r>
            <a:endParaRPr sz="900" b="1">
              <a:solidFill>
                <a:srgbClr val="5A626D"/>
              </a:solidFill>
              <a:latin typeface="Noto Sans"/>
            </a:endParaRPr>
          </a:p>
        </p:txBody>
      </p:sp>
      <p:sp>
        <p:nvSpPr>
          <p:cNvPr id="399" name="TextBox 30"/>
          <p:cNvSpPr txBox="1"/>
          <p:nvPr/>
        </p:nvSpPr>
        <p:spPr>
          <a:xfrm>
            <a:off x="2844800" y="4622800"/>
            <a:ext cx="1803400" cy="1851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3C434D"/>
                </a:solidFill>
                <a:latin typeface="Noto Sans"/>
              </a:rPr>
              <a:t>технический</a:t>
            </a:r>
            <a:endParaRPr sz="9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400" name="TextBox 31"/>
          <p:cNvSpPr txBox="1"/>
          <p:nvPr/>
        </p:nvSpPr>
        <p:spPr>
          <a:xfrm>
            <a:off x="4876800" y="4622800"/>
            <a:ext cx="1803400" cy="1851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3C434D"/>
                </a:solidFill>
                <a:latin typeface="Noto Sans"/>
              </a:rPr>
              <a:t>экспертный</a:t>
            </a:r>
            <a:endParaRPr sz="9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401" name="TextBox 32"/>
          <p:cNvSpPr txBox="1"/>
          <p:nvPr/>
        </p:nvSpPr>
        <p:spPr>
          <a:xfrm>
            <a:off x="6908800" y="4622800"/>
            <a:ext cx="1930400" cy="1851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3C434D"/>
                </a:solidFill>
                <a:latin typeface="Noto Sans"/>
              </a:rPr>
              <a:t>технический</a:t>
            </a:r>
            <a:endParaRPr sz="9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402" name="TextBox 33"/>
          <p:cNvSpPr txBox="1"/>
          <p:nvPr/>
        </p:nvSpPr>
        <p:spPr>
          <a:xfrm>
            <a:off x="9067800" y="4622800"/>
            <a:ext cx="2209800" cy="1851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>
                <a:solidFill>
                  <a:srgbClr val="101215"/>
                </a:solidFill>
                <a:latin typeface="Noto Sans"/>
              </a:rPr>
              <a:t>владельца сайта</a:t>
            </a:r>
            <a:endParaRPr sz="900" b="1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403" name="Rectangle 34"/>
          <p:cNvSpPr/>
          <p:nvPr/>
        </p:nvSpPr>
        <p:spPr>
          <a:xfrm>
            <a:off x="812800" y="5181600"/>
            <a:ext cx="10566400" cy="9525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04" name="TextBox 35"/>
          <p:cNvSpPr txBox="1"/>
          <p:nvPr/>
        </p:nvSpPr>
        <p:spPr>
          <a:xfrm>
            <a:off x="812800" y="5562600"/>
            <a:ext cx="10566400" cy="19202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C9280B"/>
                </a:solidFill>
                <a:latin typeface="Noto Sans"/>
              </a:rPr>
              <a:t>Преимущество: детерминированный движок · диффы · готовое ТЗ.</a:t>
            </a:r>
            <a:endParaRPr sz="1050" b="1">
              <a:solidFill>
                <a:srgbClr val="C9280B"/>
              </a:solidFill>
              <a:latin typeface="Noto Sans"/>
            </a:endParaRPr>
          </a:p>
        </p:txBody>
      </p:sp>
      <p:sp>
        <p:nvSpPr>
          <p:cNvPr id="405" name="TextBox 36"/>
          <p:cNvSpPr txBox="1"/>
          <p:nvPr/>
        </p:nvSpPr>
        <p:spPr>
          <a:xfrm>
            <a:off x="812800" y="6451600"/>
            <a:ext cx="4064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626D"/>
                </a:solidFill>
                <a:latin typeface="Noto Sans Mono"/>
              </a:rPr>
              <a:t>webscope</a:t>
            </a:r>
            <a:endParaRPr sz="800" b="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406" name="TextBox 37"/>
          <p:cNvSpPr txBox="1"/>
          <p:nvPr/>
        </p:nvSpPr>
        <p:spPr>
          <a:xfrm>
            <a:off x="10236200" y="6451600"/>
            <a:ext cx="1143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5A626D"/>
                </a:solidFill>
                <a:latin typeface="Noto Sans Mono"/>
              </a:rPr>
              <a:t>06 / 8</a:t>
            </a:r>
            <a:endParaRPr sz="800" b="0">
              <a:solidFill>
                <a:srgbClr val="5A626D"/>
              </a:solidFill>
              <a:latin typeface="Noto Sans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Box 1"/>
          <p:cNvSpPr txBox="1"/>
          <p:nvPr/>
        </p:nvSpPr>
        <p:spPr>
          <a:xfrm>
            <a:off x="812800" y="406400"/>
            <a:ext cx="8890000" cy="1295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cap="all" spc="100">
                <a:solidFill>
                  <a:srgbClr val="5A626D"/>
                </a:solidFill>
                <a:latin typeface="Noto Sans Mono"/>
              </a:rPr>
              <a:t>06  /  СТАТУС И ГРАНИЦЫ</a:t>
            </a:r>
            <a:endParaRPr sz="850" b="1" cap="all" spc="10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409" name="Rectangle 2"/>
          <p:cNvSpPr/>
          <p:nvPr/>
        </p:nvSpPr>
        <p:spPr>
          <a:xfrm>
            <a:off x="812800" y="660400"/>
            <a:ext cx="10566400" cy="9525"/>
          </a:xfrm>
          <a:prstGeom prst="rect">
            <a:avLst/>
          </a:prstGeom>
          <a:solidFill>
            <a:srgbClr val="C9C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10" name="TextBox 3"/>
          <p:cNvSpPr txBox="1"/>
          <p:nvPr/>
        </p:nvSpPr>
        <p:spPr>
          <a:xfrm>
            <a:off x="812800" y="863600"/>
            <a:ext cx="10566400" cy="52852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215"/>
                </a:solidFill>
                <a:latin typeface="Noto Serif"/>
              </a:rPr>
              <a:t>Что работает. Что пока нет.</a:t>
            </a:r>
            <a:endParaRPr sz="3400" b="1">
              <a:solidFill>
                <a:srgbClr val="101215"/>
              </a:solidFill>
              <a:latin typeface="Noto Serif"/>
            </a:endParaRPr>
          </a:p>
        </p:txBody>
      </p:sp>
      <p:sp>
        <p:nvSpPr>
          <p:cNvPr id="411" name="TextBox 4"/>
          <p:cNvSpPr txBox="1"/>
          <p:nvPr/>
        </p:nvSpPr>
        <p:spPr>
          <a:xfrm>
            <a:off x="812800" y="1625600"/>
            <a:ext cx="10566400" cy="2103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C434D"/>
                </a:solidFill>
                <a:latin typeface="Noto Sans"/>
              </a:rPr>
              <a:t>Статус MVP и границы, которые вижу.</a:t>
            </a:r>
            <a:endParaRPr sz="115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412" name="TextBox 5"/>
          <p:cNvSpPr txBox="1"/>
          <p:nvPr/>
        </p:nvSpPr>
        <p:spPr>
          <a:xfrm>
            <a:off x="812800" y="2209800"/>
            <a:ext cx="4826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cap="all" spc="80">
                <a:solidFill>
                  <a:srgbClr val="5A626D"/>
                </a:solidFill>
                <a:latin typeface="Noto Sans Mono"/>
              </a:rPr>
              <a:t>РАБОТАЕТ</a:t>
            </a:r>
            <a:endParaRPr sz="800" b="1" cap="all" spc="8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413" name="Rectangle 6"/>
          <p:cNvSpPr/>
          <p:nvPr/>
        </p:nvSpPr>
        <p:spPr>
          <a:xfrm>
            <a:off x="812800" y="2540000"/>
            <a:ext cx="63500" cy="63500"/>
          </a:xfrm>
          <a:prstGeom prst="rect">
            <a:avLst/>
          </a:prstGeom>
          <a:solidFill>
            <a:srgbClr val="C928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14" name="TextBox 7"/>
          <p:cNvSpPr txBox="1"/>
          <p:nvPr/>
        </p:nvSpPr>
        <p:spPr>
          <a:xfrm>
            <a:off x="1016000" y="2451100"/>
            <a:ext cx="4572000" cy="2000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01215"/>
                </a:solidFill>
                <a:latin typeface="Noto Sans"/>
              </a:rPr>
              <a:t>6 проверок + блокировка кликов</a:t>
            </a:r>
            <a:endParaRPr sz="1050" b="0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415" name="Rectangle 8"/>
          <p:cNvSpPr/>
          <p:nvPr/>
        </p:nvSpPr>
        <p:spPr>
          <a:xfrm>
            <a:off x="812800" y="2946400"/>
            <a:ext cx="63500" cy="63500"/>
          </a:xfrm>
          <a:prstGeom prst="rect">
            <a:avLst/>
          </a:prstGeom>
          <a:solidFill>
            <a:srgbClr val="C928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16" name="TextBox 9"/>
          <p:cNvSpPr txBox="1"/>
          <p:nvPr/>
        </p:nvSpPr>
        <p:spPr>
          <a:xfrm>
            <a:off x="1016000" y="2857500"/>
            <a:ext cx="4572000" cy="2000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01215"/>
                </a:solidFill>
                <a:latin typeface="Noto Sans"/>
              </a:rPr>
              <a:t>CLI, MCP и веб-интерфейс</a:t>
            </a:r>
            <a:endParaRPr sz="1050" b="0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417" name="Rectangle 10"/>
          <p:cNvSpPr/>
          <p:nvPr/>
        </p:nvSpPr>
        <p:spPr>
          <a:xfrm>
            <a:off x="812800" y="3352800"/>
            <a:ext cx="63500" cy="63500"/>
          </a:xfrm>
          <a:prstGeom prst="rect">
            <a:avLst/>
          </a:prstGeom>
          <a:solidFill>
            <a:srgbClr val="C928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18" name="TextBox 11"/>
          <p:cNvSpPr txBox="1"/>
          <p:nvPr/>
        </p:nvSpPr>
        <p:spPr>
          <a:xfrm>
            <a:off x="1016000" y="3263900"/>
            <a:ext cx="4572000" cy="2000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01215"/>
                </a:solidFill>
                <a:latin typeface="Noto Sans"/>
              </a:rPr>
              <a:t>История, диффы, алерты</a:t>
            </a:r>
            <a:endParaRPr sz="1050" b="0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419" name="Rectangle 12"/>
          <p:cNvSpPr/>
          <p:nvPr/>
        </p:nvSpPr>
        <p:spPr>
          <a:xfrm>
            <a:off x="812800" y="3759200"/>
            <a:ext cx="63500" cy="63500"/>
          </a:xfrm>
          <a:prstGeom prst="rect">
            <a:avLst/>
          </a:prstGeom>
          <a:solidFill>
            <a:srgbClr val="C928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20" name="TextBox 13"/>
          <p:cNvSpPr txBox="1"/>
          <p:nvPr/>
        </p:nvSpPr>
        <p:spPr>
          <a:xfrm>
            <a:off x="1016000" y="3670300"/>
            <a:ext cx="4572000" cy="2000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01215"/>
                </a:solidFill>
                <a:latin typeface="Noto Sans"/>
              </a:rPr>
              <a:t>66 тестов и CI</a:t>
            </a:r>
            <a:endParaRPr sz="1050" b="0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421" name="TextBox 14"/>
          <p:cNvSpPr txBox="1"/>
          <p:nvPr/>
        </p:nvSpPr>
        <p:spPr>
          <a:xfrm>
            <a:off x="6553200" y="2209800"/>
            <a:ext cx="4826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cap="all" spc="80">
                <a:solidFill>
                  <a:srgbClr val="C9280B"/>
                </a:solidFill>
                <a:latin typeface="Noto Sans Mono"/>
              </a:rPr>
              <a:t>ГРАНИЦЫ</a:t>
            </a:r>
            <a:endParaRPr sz="800" b="1" cap="all" spc="80">
              <a:solidFill>
                <a:srgbClr val="C9280B"/>
              </a:solidFill>
              <a:latin typeface="Noto Sans Mono"/>
            </a:endParaRPr>
          </a:p>
        </p:txBody>
      </p:sp>
      <p:sp>
        <p:nvSpPr>
          <p:cNvPr id="422" name="Rectangle 15"/>
          <p:cNvSpPr/>
          <p:nvPr/>
        </p:nvSpPr>
        <p:spPr>
          <a:xfrm>
            <a:off x="6553200" y="2540000"/>
            <a:ext cx="63500" cy="63500"/>
          </a:xfrm>
          <a:prstGeom prst="rect">
            <a:avLst/>
          </a:prstGeom>
          <a:solidFill>
            <a:srgbClr val="C928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23" name="TextBox 16"/>
          <p:cNvSpPr txBox="1"/>
          <p:nvPr/>
        </p:nvSpPr>
        <p:spPr>
          <a:xfrm>
            <a:off x="6756400" y="2451100"/>
            <a:ext cx="4622800" cy="2000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01215"/>
                </a:solidFill>
                <a:latin typeface="Noto Sans"/>
              </a:rPr>
              <a:t>Личные кабинеты не проверяем</a:t>
            </a:r>
            <a:endParaRPr sz="1050" b="0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424" name="Rectangle 17"/>
          <p:cNvSpPr/>
          <p:nvPr/>
        </p:nvSpPr>
        <p:spPr>
          <a:xfrm>
            <a:off x="6553200" y="2946400"/>
            <a:ext cx="63500" cy="63500"/>
          </a:xfrm>
          <a:prstGeom prst="rect">
            <a:avLst/>
          </a:prstGeom>
          <a:solidFill>
            <a:srgbClr val="C928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25" name="TextBox 18"/>
          <p:cNvSpPr txBox="1"/>
          <p:nvPr/>
        </p:nvSpPr>
        <p:spPr>
          <a:xfrm>
            <a:off x="6756400" y="2857500"/>
            <a:ext cx="4622800" cy="2000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01215"/>
                </a:solidFill>
                <a:latin typeface="Noto Sans"/>
              </a:rPr>
              <a:t>Сложный JS покрыт не полностью</a:t>
            </a:r>
            <a:endParaRPr sz="1050" b="0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426" name="Rectangle 19"/>
          <p:cNvSpPr/>
          <p:nvPr/>
        </p:nvSpPr>
        <p:spPr>
          <a:xfrm>
            <a:off x="6553200" y="3352800"/>
            <a:ext cx="63500" cy="63500"/>
          </a:xfrm>
          <a:prstGeom prst="rect">
            <a:avLst/>
          </a:prstGeom>
          <a:solidFill>
            <a:srgbClr val="C928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27" name="TextBox 20"/>
          <p:cNvSpPr txBox="1"/>
          <p:nvPr/>
        </p:nvSpPr>
        <p:spPr>
          <a:xfrm>
            <a:off x="6756400" y="3263900"/>
            <a:ext cx="4622800" cy="2000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01215"/>
                </a:solidFill>
                <a:latin typeface="Noto Sans"/>
              </a:rPr>
              <a:t>Ложные срабатывания; цель &lt;10%</a:t>
            </a:r>
            <a:endParaRPr sz="1050" b="0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428" name="Rectangle 21"/>
          <p:cNvSpPr/>
          <p:nvPr/>
        </p:nvSpPr>
        <p:spPr>
          <a:xfrm>
            <a:off x="6553200" y="3759200"/>
            <a:ext cx="63500" cy="63500"/>
          </a:xfrm>
          <a:prstGeom prst="rect">
            <a:avLst/>
          </a:prstGeom>
          <a:solidFill>
            <a:srgbClr val="C928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29" name="TextBox 22"/>
          <p:cNvSpPr txBox="1"/>
          <p:nvPr/>
        </p:nvSpPr>
        <p:spPr>
          <a:xfrm>
            <a:off x="6756400" y="3670300"/>
            <a:ext cx="4622800" cy="2000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01215"/>
                </a:solidFill>
                <a:latin typeface="Noto Sans"/>
              </a:rPr>
              <a:t>Веб-интерфейс без авторизации</a:t>
            </a:r>
            <a:endParaRPr sz="1050" b="0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430" name="Rectangle 23"/>
          <p:cNvSpPr/>
          <p:nvPr/>
        </p:nvSpPr>
        <p:spPr>
          <a:xfrm>
            <a:off x="812800" y="4318000"/>
            <a:ext cx="10566400" cy="1651000"/>
          </a:xfrm>
          <a:prstGeom prst="rect">
            <a:avLst/>
          </a:prstGeom>
          <a:solidFill>
            <a:srgbClr val="1012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31" name="TextBox 24"/>
          <p:cNvSpPr txBox="1"/>
          <p:nvPr/>
        </p:nvSpPr>
        <p:spPr>
          <a:xfrm>
            <a:off x="1066800" y="4521200"/>
            <a:ext cx="100584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cap="all" spc="80">
                <a:solidFill>
                  <a:srgbClr val="FF5A3C"/>
                </a:solidFill>
                <a:latin typeface="Noto Sans Mono"/>
              </a:rPr>
              <a:t>БЕЗОПАСНОСТЬ</a:t>
            </a:r>
            <a:endParaRPr sz="800" b="1" cap="all" spc="80">
              <a:solidFill>
                <a:srgbClr val="FF5A3C"/>
              </a:solidFill>
              <a:latin typeface="Noto Sans Mono"/>
            </a:endParaRPr>
          </a:p>
        </p:txBody>
      </p:sp>
      <p:sp>
        <p:nvSpPr>
          <p:cNvPr id="432" name="TextBox 25"/>
          <p:cNvSpPr txBox="1"/>
          <p:nvPr/>
        </p:nvSpPr>
        <p:spPr>
          <a:xfrm>
            <a:off x="1066800" y="4775200"/>
            <a:ext cx="10058400" cy="4267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Noto Sans"/>
              </a:rPr>
              <a:t>SSRF-защита: только http/https, без private IP и credentials. robots.txt по умолчанию.</a:t>
            </a:r>
            <a:endParaRPr sz="1000" b="0">
              <a:solidFill>
                <a:srgbClr val="FFFFFF"/>
              </a:solidFill>
              <a:latin typeface="Noto Sans"/>
            </a:endParaRP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Noto Sans"/>
              </a:rPr>
              <a:t>Логины и пароли не собираем.</a:t>
            </a:r>
            <a:endParaRPr sz="1000" b="0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433" name="TextBox 26"/>
          <p:cNvSpPr txBox="1"/>
          <p:nvPr/>
        </p:nvSpPr>
        <p:spPr>
          <a:xfrm>
            <a:off x="1066800" y="5384800"/>
            <a:ext cx="10058400" cy="1371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7ADB7"/>
                </a:solidFill>
                <a:latin typeface="Noto Sans Mono"/>
              </a:rPr>
              <a:t>Перед публичным SaaS: auth, лимиты, изоляция браузера.</a:t>
            </a:r>
            <a:endParaRPr sz="900" b="0">
              <a:solidFill>
                <a:srgbClr val="A7ADB7"/>
              </a:solidFill>
              <a:latin typeface="Noto Sans Mono"/>
            </a:endParaRPr>
          </a:p>
        </p:txBody>
      </p:sp>
      <p:sp>
        <p:nvSpPr>
          <p:cNvPr id="434" name="TextBox 27"/>
          <p:cNvSpPr txBox="1"/>
          <p:nvPr/>
        </p:nvSpPr>
        <p:spPr>
          <a:xfrm>
            <a:off x="812800" y="6451600"/>
            <a:ext cx="4064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626D"/>
                </a:solidFill>
                <a:latin typeface="Noto Sans Mono"/>
              </a:rPr>
              <a:t>webscope</a:t>
            </a:r>
            <a:endParaRPr sz="800" b="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435" name="TextBox 28"/>
          <p:cNvSpPr txBox="1"/>
          <p:nvPr/>
        </p:nvSpPr>
        <p:spPr>
          <a:xfrm>
            <a:off x="10236200" y="6451600"/>
            <a:ext cx="1143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5A626D"/>
                </a:solidFill>
                <a:latin typeface="Noto Sans Mono"/>
              </a:rPr>
              <a:t>07 / 8</a:t>
            </a:r>
            <a:endParaRPr sz="800" b="0">
              <a:solidFill>
                <a:srgbClr val="5A626D"/>
              </a:solidFill>
              <a:latin typeface="Noto Sans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Box 1"/>
          <p:cNvSpPr txBox="1"/>
          <p:nvPr/>
        </p:nvSpPr>
        <p:spPr>
          <a:xfrm>
            <a:off x="812800" y="406400"/>
            <a:ext cx="8890000" cy="1295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cap="all" spc="100">
                <a:solidFill>
                  <a:srgbClr val="5A626D"/>
                </a:solidFill>
                <a:latin typeface="Noto Sans Mono"/>
              </a:rPr>
              <a:t>07  /  ПЛАН</a:t>
            </a:r>
            <a:endParaRPr sz="850" b="1" cap="all" spc="10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438" name="Rectangle 2"/>
          <p:cNvSpPr/>
          <p:nvPr/>
        </p:nvSpPr>
        <p:spPr>
          <a:xfrm>
            <a:off x="812800" y="660400"/>
            <a:ext cx="10566400" cy="9525"/>
          </a:xfrm>
          <a:prstGeom prst="rect">
            <a:avLst/>
          </a:prstGeom>
          <a:solidFill>
            <a:srgbClr val="C9C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39" name="TextBox 3"/>
          <p:cNvSpPr txBox="1"/>
          <p:nvPr/>
        </p:nvSpPr>
        <p:spPr>
          <a:xfrm>
            <a:off x="812800" y="863600"/>
            <a:ext cx="10566400" cy="5596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101215"/>
                </a:solidFill>
                <a:latin typeface="Noto Serif"/>
              </a:rPr>
              <a:t>До декабря — довести ядро.</a:t>
            </a:r>
            <a:endParaRPr sz="3600" b="1">
              <a:solidFill>
                <a:srgbClr val="101215"/>
              </a:solidFill>
              <a:latin typeface="Noto Serif"/>
            </a:endParaRPr>
          </a:p>
        </p:txBody>
      </p:sp>
      <p:sp>
        <p:nvSpPr>
          <p:cNvPr id="440" name="TextBox 4"/>
          <p:cNvSpPr txBox="1"/>
          <p:nvPr/>
        </p:nvSpPr>
        <p:spPr>
          <a:xfrm>
            <a:off x="812800" y="1625600"/>
            <a:ext cx="10566400" cy="2103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C434D"/>
                </a:solidFill>
                <a:latin typeface="Noto Sans"/>
              </a:rPr>
              <a:t>Три технических фокуса.</a:t>
            </a:r>
            <a:endParaRPr sz="115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441" name="Rectangle 5"/>
          <p:cNvSpPr/>
          <p:nvPr/>
        </p:nvSpPr>
        <p:spPr>
          <a:xfrm>
            <a:off x="812800" y="2311400"/>
            <a:ext cx="3175000" cy="12700"/>
          </a:xfrm>
          <a:prstGeom prst="rect">
            <a:avLst/>
          </a:prstGeom>
          <a:solidFill>
            <a:srgbClr val="1012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42" name="TextBox 6"/>
          <p:cNvSpPr txBox="1"/>
          <p:nvPr/>
        </p:nvSpPr>
        <p:spPr>
          <a:xfrm>
            <a:off x="812800" y="2489200"/>
            <a:ext cx="3175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cap="all" spc="80">
                <a:solidFill>
                  <a:srgbClr val="C9280B"/>
                </a:solidFill>
                <a:latin typeface="Noto Sans Mono"/>
              </a:rPr>
              <a:t>ТОЧНОСТЬ</a:t>
            </a:r>
            <a:endParaRPr sz="800" b="1" cap="all" spc="80">
              <a:solidFill>
                <a:srgbClr val="C9280B"/>
              </a:solidFill>
              <a:latin typeface="Noto Sans Mono"/>
            </a:endParaRPr>
          </a:p>
        </p:txBody>
      </p:sp>
      <p:sp>
        <p:nvSpPr>
          <p:cNvPr id="443" name="TextBox 7"/>
          <p:cNvSpPr txBox="1"/>
          <p:nvPr/>
        </p:nvSpPr>
        <p:spPr>
          <a:xfrm>
            <a:off x="812800" y="2743200"/>
            <a:ext cx="2921000" cy="2377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01215"/>
                </a:solidFill>
                <a:latin typeface="Noto Sans"/>
              </a:rPr>
              <a:t>Эталонный корпус, FP &lt;10%</a:t>
            </a:r>
            <a:endParaRPr sz="1300" b="1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444" name="TextBox 8"/>
          <p:cNvSpPr txBox="1"/>
          <p:nvPr/>
        </p:nvSpPr>
        <p:spPr>
          <a:xfrm>
            <a:off x="812800" y="3124200"/>
            <a:ext cx="2921000" cy="2133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C434D"/>
                </a:solidFill>
                <a:latin typeface="Noto Sans"/>
              </a:rPr>
              <a:t>Правила для JS-сайтов.</a:t>
            </a:r>
            <a:endParaRPr sz="10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445" name="Rectangle 9"/>
          <p:cNvSpPr/>
          <p:nvPr/>
        </p:nvSpPr>
        <p:spPr>
          <a:xfrm>
            <a:off x="4445000" y="2311400"/>
            <a:ext cx="3175000" cy="12700"/>
          </a:xfrm>
          <a:prstGeom prst="rect">
            <a:avLst/>
          </a:prstGeom>
          <a:solidFill>
            <a:srgbClr val="1012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46" name="TextBox 10"/>
          <p:cNvSpPr txBox="1"/>
          <p:nvPr/>
        </p:nvSpPr>
        <p:spPr>
          <a:xfrm>
            <a:off x="4445000" y="2489200"/>
            <a:ext cx="3175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cap="all" spc="80">
                <a:solidFill>
                  <a:srgbClr val="C9280B"/>
                </a:solidFill>
                <a:latin typeface="Noto Sans Mono"/>
              </a:rPr>
              <a:t>ОТЧЁТЫ</a:t>
            </a:r>
            <a:endParaRPr sz="800" b="1" cap="all" spc="80">
              <a:solidFill>
                <a:srgbClr val="C9280B"/>
              </a:solidFill>
              <a:latin typeface="Noto Sans Mono"/>
            </a:endParaRPr>
          </a:p>
        </p:txBody>
      </p:sp>
      <p:sp>
        <p:nvSpPr>
          <p:cNvPr id="447" name="TextBox 11"/>
          <p:cNvSpPr txBox="1"/>
          <p:nvPr/>
        </p:nvSpPr>
        <p:spPr>
          <a:xfrm>
            <a:off x="4445000" y="2743200"/>
            <a:ext cx="2921000" cy="2377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01215"/>
                </a:solidFill>
                <a:latin typeface="Noto Sans"/>
              </a:rPr>
              <a:t>HTML, JSON, SARIF</a:t>
            </a:r>
            <a:endParaRPr sz="1300" b="1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448" name="TextBox 12"/>
          <p:cNvSpPr txBox="1"/>
          <p:nvPr/>
        </p:nvSpPr>
        <p:spPr>
          <a:xfrm>
            <a:off x="4445000" y="3124200"/>
            <a:ext cx="2921000" cy="2133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C434D"/>
                </a:solidFill>
                <a:latin typeface="Noto Sans"/>
              </a:rPr>
              <a:t>Шаблон ТЗ для разработчика.</a:t>
            </a:r>
            <a:endParaRPr sz="10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449" name="Rectangle 13"/>
          <p:cNvSpPr/>
          <p:nvPr/>
        </p:nvSpPr>
        <p:spPr>
          <a:xfrm>
            <a:off x="8077200" y="2311400"/>
            <a:ext cx="3175000" cy="12700"/>
          </a:xfrm>
          <a:prstGeom prst="rect">
            <a:avLst/>
          </a:prstGeom>
          <a:solidFill>
            <a:srgbClr val="1012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50" name="TextBox 14"/>
          <p:cNvSpPr txBox="1"/>
          <p:nvPr/>
        </p:nvSpPr>
        <p:spPr>
          <a:xfrm>
            <a:off x="8077200" y="2489200"/>
            <a:ext cx="3175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cap="all" spc="80">
                <a:solidFill>
                  <a:srgbClr val="C9280B"/>
                </a:solidFill>
                <a:latin typeface="Noto Sans Mono"/>
              </a:rPr>
              <a:t>СТАБИЛЬНОСТЬ</a:t>
            </a:r>
            <a:endParaRPr sz="800" b="1" cap="all" spc="80">
              <a:solidFill>
                <a:srgbClr val="C9280B"/>
              </a:solidFill>
              <a:latin typeface="Noto Sans Mono"/>
            </a:endParaRPr>
          </a:p>
        </p:txBody>
      </p:sp>
      <p:sp>
        <p:nvSpPr>
          <p:cNvPr id="451" name="TextBox 15"/>
          <p:cNvSpPr txBox="1"/>
          <p:nvPr/>
        </p:nvSpPr>
        <p:spPr>
          <a:xfrm>
            <a:off x="8077200" y="2743200"/>
            <a:ext cx="2921000" cy="2377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01215"/>
                </a:solidFill>
                <a:latin typeface="Noto Sans"/>
              </a:rPr>
              <a:t>VPS, очередь, бэкапы</a:t>
            </a:r>
            <a:endParaRPr sz="1300" b="1">
              <a:solidFill>
                <a:srgbClr val="101215"/>
              </a:solidFill>
              <a:latin typeface="Noto Sans"/>
            </a:endParaRPr>
          </a:p>
        </p:txBody>
      </p:sp>
      <p:sp>
        <p:nvSpPr>
          <p:cNvPr id="452" name="TextBox 16"/>
          <p:cNvSpPr txBox="1"/>
          <p:nvPr/>
        </p:nvSpPr>
        <p:spPr>
          <a:xfrm>
            <a:off x="8077200" y="3124200"/>
            <a:ext cx="2921000" cy="2133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C434D"/>
                </a:solidFill>
                <a:latin typeface="Noto Sans"/>
              </a:rPr>
              <a:t>Тесты и установка за 10 минут.</a:t>
            </a:r>
            <a:endParaRPr sz="1000" b="0">
              <a:solidFill>
                <a:srgbClr val="3C434D"/>
              </a:solidFill>
              <a:latin typeface="Noto Sans"/>
            </a:endParaRPr>
          </a:p>
        </p:txBody>
      </p:sp>
      <p:sp>
        <p:nvSpPr>
          <p:cNvPr id="453" name="Rectangle 17"/>
          <p:cNvSpPr/>
          <p:nvPr/>
        </p:nvSpPr>
        <p:spPr>
          <a:xfrm>
            <a:off x="812800" y="4191000"/>
            <a:ext cx="10566400" cy="1778000"/>
          </a:xfrm>
          <a:prstGeom prst="rect">
            <a:avLst/>
          </a:prstGeom>
          <a:solidFill>
            <a:srgbClr val="1012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54" name="TextBox 18"/>
          <p:cNvSpPr txBox="1"/>
          <p:nvPr/>
        </p:nvSpPr>
        <p:spPr>
          <a:xfrm>
            <a:off x="1066800" y="4394200"/>
            <a:ext cx="5080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cap="all" spc="80">
                <a:solidFill>
                  <a:srgbClr val="FF5A3C"/>
                </a:solidFill>
                <a:latin typeface="Noto Sans Mono"/>
              </a:rPr>
              <a:t>ЧТО НУЖНО</a:t>
            </a:r>
            <a:endParaRPr sz="800" b="1" cap="all" spc="80">
              <a:solidFill>
                <a:srgbClr val="FF5A3C"/>
              </a:solidFill>
              <a:latin typeface="Noto Sans Mono"/>
            </a:endParaRPr>
          </a:p>
        </p:txBody>
      </p:sp>
      <p:sp>
        <p:nvSpPr>
          <p:cNvPr id="455" name="TextBox 19"/>
          <p:cNvSpPr txBox="1"/>
          <p:nvPr/>
        </p:nvSpPr>
        <p:spPr>
          <a:xfrm>
            <a:off x="1066800" y="4648200"/>
            <a:ext cx="10058400" cy="20116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Noto Sans"/>
              </a:rPr>
              <a:t>10–20 тестовых сайтов · ручная разметка · $800 · ревью</a:t>
            </a:r>
            <a:endParaRPr sz="1100" b="1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456" name="TextBox 20"/>
          <p:cNvSpPr txBox="1"/>
          <p:nvPr/>
        </p:nvSpPr>
        <p:spPr>
          <a:xfrm>
            <a:off x="1066800" y="5054600"/>
            <a:ext cx="5080000" cy="1371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7ADB7"/>
                </a:solidFill>
                <a:latin typeface="Noto Sans Mono"/>
              </a:rPr>
              <a:t>Демо — по запросу.</a:t>
            </a:r>
            <a:endParaRPr sz="900" b="0">
              <a:solidFill>
                <a:srgbClr val="A7ADB7"/>
              </a:solidFill>
              <a:latin typeface="Noto Sans Mono"/>
            </a:endParaRPr>
          </a:p>
        </p:txBody>
      </p:sp>
      <p:sp>
        <p:nvSpPr>
          <p:cNvPr id="457" name="TextBox 21"/>
          <p:cNvSpPr txBox="1"/>
          <p:nvPr/>
        </p:nvSpPr>
        <p:spPr>
          <a:xfrm>
            <a:off x="1066800" y="5384800"/>
            <a:ext cx="10058400" cy="5486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Noto Serif"/>
              </a:rPr>
              <a:t>Сайт ломается тихо.</a:t>
            </a:r>
            <a:endParaRPr sz="1500" b="1">
              <a:solidFill>
                <a:srgbClr val="FFFFFF"/>
              </a:solidFill>
              <a:latin typeface="Noto Serif"/>
            </a:endParaRP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Noto Serif"/>
              </a:rPr>
              <a:t>Давайте слышать это первыми.</a:t>
            </a:r>
            <a:endParaRPr sz="1500" b="1">
              <a:solidFill>
                <a:srgbClr val="FFFFFF"/>
              </a:solidFill>
              <a:latin typeface="Noto Serif"/>
            </a:endParaRPr>
          </a:p>
        </p:txBody>
      </p:sp>
      <p:sp>
        <p:nvSpPr>
          <p:cNvPr id="458" name="TextBox 22"/>
          <p:cNvSpPr txBox="1"/>
          <p:nvPr/>
        </p:nvSpPr>
        <p:spPr>
          <a:xfrm>
            <a:off x="812800" y="6451600"/>
            <a:ext cx="4064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626D"/>
                </a:solidFill>
                <a:latin typeface="Noto Sans Mono"/>
              </a:rPr>
              <a:t>webscope</a:t>
            </a:r>
            <a:endParaRPr sz="800" b="0">
              <a:solidFill>
                <a:srgbClr val="5A626D"/>
              </a:solidFill>
              <a:latin typeface="Noto Sans Mono"/>
            </a:endParaRPr>
          </a:p>
        </p:txBody>
      </p:sp>
      <p:sp>
        <p:nvSpPr>
          <p:cNvPr id="459" name="TextBox 23"/>
          <p:cNvSpPr txBox="1"/>
          <p:nvPr/>
        </p:nvSpPr>
        <p:spPr>
          <a:xfrm>
            <a:off x="10236200" y="6451600"/>
            <a:ext cx="1143000" cy="1219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5A626D"/>
                </a:solidFill>
                <a:latin typeface="Noto Sans Mono"/>
              </a:rPr>
              <a:t>08 / 8</a:t>
            </a:r>
            <a:endParaRPr sz="800" b="0">
              <a:solidFill>
                <a:srgbClr val="5A626D"/>
              </a:solidFill>
              <a:latin typeface="Noto Sans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mber">
  <a:themeElements>
    <a:clrScheme name="Ember">
      <a:dk1>
        <a:srgbClr val="1A1A1A"/>
      </a:dk1>
      <a:lt1>
        <a:srgbClr val="FFFCF7"/>
      </a:lt1>
      <a:dk2>
        <a:srgbClr val="3D2B1F"/>
      </a:dk2>
      <a:lt2>
        <a:srgbClr val="F6EDE3"/>
      </a:lt2>
      <a:accent1>
        <a:srgbClr val="D9480F"/>
      </a:accent1>
      <a:accent2>
        <a:srgbClr val="F59F00"/>
      </a:accent2>
      <a:accent3>
        <a:srgbClr val="A61E4D"/>
      </a:accent3>
      <a:accent4>
        <a:srgbClr val="5C940D"/>
      </a:accent4>
      <a:accent5>
        <a:srgbClr val="1971C2"/>
      </a:accent5>
      <a:accent6>
        <a:srgbClr val="862E9C"/>
      </a:accent6>
      <a:hlink>
        <a:srgbClr val="D9480F"/>
      </a:hlink>
      <a:folHlink>
        <a:srgbClr val="862E9C"/>
      </a:folHlink>
    </a:clrScheme>
    <a:fontScheme name="Custom">
      <a:majorFont>
        <a:latin typeface="Noto Serif"/>
        <a:ea typeface=""/>
        <a:cs typeface=""/>
      </a:majorFont>
      <a:minorFont>
        <a:latin typeface="Noto Sans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xmlns:r="http://schemas.openxmlformats.org/officeDocument/2006/relationships" name="Ember">
  <a:themeElements>
    <a:clrScheme name="Ember">
      <a:dk1>
        <a:srgbClr val="1A1A1A"/>
      </a:dk1>
      <a:lt1>
        <a:srgbClr val="FFFCF7"/>
      </a:lt1>
      <a:dk2>
        <a:srgbClr val="3D2B1F"/>
      </a:dk2>
      <a:lt2>
        <a:srgbClr val="F6EDE3"/>
      </a:lt2>
      <a:accent1>
        <a:srgbClr val="D9480F"/>
      </a:accent1>
      <a:accent2>
        <a:srgbClr val="F59F00"/>
      </a:accent2>
      <a:accent3>
        <a:srgbClr val="A61E4D"/>
      </a:accent3>
      <a:accent4>
        <a:srgbClr val="5C940D"/>
      </a:accent4>
      <a:accent5>
        <a:srgbClr val="1971C2"/>
      </a:accent5>
      <a:accent6>
        <a:srgbClr val="862E9C"/>
      </a:accent6>
      <a:hlink>
        <a:srgbClr val="D9480F"/>
      </a:hlink>
      <a:folHlink>
        <a:srgbClr val="862E9C"/>
      </a:folHlink>
    </a:clrScheme>
    <a:fontScheme name="Custom">
      <a:majorFont>
        <a:latin typeface="Noto Serif"/>
        <a:ea typeface=""/>
        <a:cs typeface=""/>
      </a:majorFont>
      <a:minorFont>
        <a:latin typeface="Noto Sans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8</Slides>
  <Notes>8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webscope — питч 3 минуты</dc:title>
  <dc:creator>webscope</dc:creator>
</cp:coreProperties>
</file>